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67a60cb-4d89-6b54-ff0d-867c064726ba}">
          <p14:sldIdLst>
            <p14:sldId id="256"/>
            <p14:sldId id="257"/>
            <p14:sldId id="258"/>
            <p14:sldId id="259"/>
          </p14:sldIdLst>
        </p14:section>
        <p14:section name="Solution" id="{07a6b871-cdb4-ec7e-aebb-87d1a62dd3ec}">
          <p14:sldIdLst>
            <p14:sldId id="260"/>
            <p14:sldId id="261"/>
            <p14:sldId id="262"/>
            <p14:sldId id="263"/>
            <p14:sldId id="264"/>
          </p14:sldIdLst>
        </p14:section>
        <p14:section name="Quality and Results" id="{3ad2faf0-ea7e-aede-0040-36a9d96a777f}">
          <p14:sldIdLst>
            <p14:sldId id="265"/>
            <p14:sldId id="266"/>
            <p14:sldId id="267"/>
          </p14:sldIdLst>
        </p14:section>
        <p14:section name="Wrap-up" id="{f3f81fb8-1f3a-e9e5-3f53-f42e3f5f79e1}">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[your name], and today I will present my Python internship project, the Student Management System. This is my Week 6, Task 4 submission. I built it as a menu-driven console application using Python and JSON, wrote it in Visual Studio Code and uploaded it to GitHub. (Before presenting, replace the bracketed placeholders on the right with your own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Management System is a console application that helps manage student records. The user sees a simple numbered menu and can add, display, search, update and delete students. I used Object-Oriented Programming to keep the code organised, and JSON file handling so the records are saved permanently. The main purpose was to apply the Python concepts we learned during the internship in one practical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student records on paper or in scattered files is slow and error-prone. Details can be lost, and finding or updating one student's information takes time when the data is not organised. My project offers a simple digital solution: a menu-driven program where every operation is a menu choice, and all records are stored in a JSON file so they are available the next time the program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my main objectives. First, to build a simple student record application. Second, to support all the core operations: add, display, search, update and delete. Third, to store data permanently with JSON. Fourth, to validate input and handle errors so the program does not crash. Fifth, to apply Python fundamentals and OOP. And finally, to build problem-solving skills and maintain the project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has six menu options: add a student, display all students, search by name, update marks, delete a student, and exit. Behind the scenes, four things make it dependable: records are saved to a JSON file, they are loaded again when the program restarts, user input is validated, and exception handling stops the program from crashing on bad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four main technologies. Python is the programming language. JSON is the file format that stores the student records. Visual Studio Code is the editor where I wrote and ran the program. Git and GitHub were used for version control and for hosting and submitting the project. The program only needs two standard-library modules, json and abc, so nothing extra has to be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how the program runs. When it starts, it creates an object of the StudentManagementSystem class, loads any saved records from students.json, and shows the menu. The user picks an option. Add, Update and Delete change the data, so the program saves the changes to the JSON file. Display and Search only read the data. The menu keeps appearing after each operation until the user chooses Exit, which ends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built with Object-Oriented Programming. Person is an abstract base class with an abstract method show_details, which is abstraction. Student inherits from Person, which is inheritance, and calls the parent constructor using super. The marks are stored in a private attribute, which is encapsulation. Student then provides its own version of show_details, which is method overriding. The StudentManagementSystem class holds the list of students and has a method for each menu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storage is handled with JSON. While the program runs, the records live in memory as a list of dictionaries. Whenever a record is added, updated or deleted, json.dump writes the list to students.json. When the program starts again, json.load reads the file back so no data is lost. The program also checks that the file exists before loading. The structure on the right is illustrative: each record stores a name, an age and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Reliable programs must cope with wrong input. The program validates age and marks before saving them, so invalid values are not accepted as records. Exception handling with try and except catches problems such as typing text where a number is expected, and handles common file errors. The code here is a simplified pattern to show the idea. The result is that a wrong entry produces a message instead of crashing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four dashed frames with your real screenshots before presenting. Suggested shots: 1) the main menu in the terminal, 2) adding a student and displaying all students, 3) searching, updating and deleting a student, and 4) the students.json file showing the saved data. While presenting, run through the screenshots in order and explain what the output shows. No screenshots have been invented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challenges a project like this raises, with the solutions I used. Data loss on closing was solved with JSON storage. Wrong input crashing the program was solved with validation and exception handling. Keeping the code organised was solved with classes and separate methods. Protecting marks from accidental changes was solved with encapsulation. (Edit this slide to match your own experience if you faced different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plenty of room to grow this project. A graphical interface using Tkinter would make it friendlier. A database such as SQLite would handle larger data. Unique student IDs would avoid confusion between students with the same name. Grade calculation and ranking, exporting reports to CSV or PDF, and a login system are other useful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let me combine many Python concepts in a working application. I practised Python fundamentals, Object-Oriented Programming, JSON file handling, input validation and exception handling, and I used Git and GitHub to manage and submit the work. It also improved my problem-solving skills, and I see many ways to extend it in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That was my Student Management System built with Python and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731520" y="1737360"/>
            <a:ext cx="640080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731520" y="3703320"/>
            <a:ext cx="6400800" cy="1005840"/>
          </a:xfrm>
          <a:prstGeom prst="rect">
            <a:avLst/>
          </a:prstGeom>
          <a:noFill/>
          <a:ln/>
        </p:spPr>
        <p:txBody>
          <a:bodyPr wrap="square" rtlCol="0"/>
          <a:lstStyle>
            <a:lvl1pPr algn="l" indent="0" marL="0">
              <a:buNone/>
              <a:defRPr lang="en-US" sz="1800" dirty="0">
                <a:solidFill>
                  <a:schemeClr val="accent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chemeClr val="accent6"/>
                </a:solidFill>
              </a:rPr>
              <a:t>Student Management System Using Python  |  Week 6 - Task 4</a:t>
            </a:r>
            <a:endParaRPr lang="en-US" sz="11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731520" y="3017520"/>
            <a:ext cx="731520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3.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ython circle"/>
          <p:cNvSpPr/>
          <p:nvPr/>
        </p:nvSpPr>
        <p:spPr>
          <a:xfrm>
            <a:off x="731520" y="685800"/>
            <a:ext cx="822960" cy="822960"/>
          </a:xfrm>
          <a:prstGeom prst="ellipse">
            <a:avLst/>
          </a:prstGeom>
          <a:solidFill>
            <a:schemeClr val="accent2"/>
          </a:solidFill>
          <a:ln/>
        </p:spPr>
      </p:sp>
      <p:pic>
        <p:nvPicPr>
          <p:cNvPr id="3" name="Image 0" descr="Python icon">    </p:cNvPr>
          <p:cNvPicPr>
            <a:picLocks noChangeAspect="1"/>
          </p:cNvPicPr>
          <p:nvPr/>
        </p:nvPicPr>
        <p:blipFill>
          <a:blip r:embed="rId1"/>
          <a:stretch>
            <a:fillRect/>
          </a:stretch>
        </p:blipFill>
        <p:spPr>
          <a:xfrm>
            <a:off x="929030" y="883310"/>
            <a:ext cx="427939" cy="427939"/>
          </a:xfrm>
          <a:prstGeom prst="rect">
            <a:avLst/>
          </a:prstGeom>
        </p:spPr>
      </p:pic>
      <p:sp>
        <p:nvSpPr>
          <p:cNvPr id="4" name="Text 1"/>
          <p:cNvSpPr/>
          <p:nvPr>
            <p:ph idx="101" type="title" hasCustomPrompt="1"/>
          </p:nvPr>
        </p:nvSpPr>
        <p:spPr>
          <a:xfrm>
            <a:off x="731520" y="1737360"/>
            <a:ext cx="6400800" cy="1828800"/>
          </a:xfrm>
          <a:prstGeom prst="rect">
            <a:avLst/>
          </a:prstGeom>
          <a:noFill/>
          <a:ln/>
        </p:spPr>
        <p:txBody>
          <a:bodyPr wrap="square" lIns="0" tIns="0" rIns="0" bIns="0" rtlCol="0" anchor="t"/>
          <a:lstStyle/>
          <a:p>
            <a:pPr algn="l" indent="0" marL="0">
              <a:buNone/>
            </a:pPr>
            <a:r>
              <a:rPr lang="en-US" sz="4000" b="1" dirty="0">
                <a:solidFill>
                  <a:schemeClr val="bg1"/>
                </a:solidFill>
              </a:rPr>
              <a:t>Student Management System Using Python</a:t>
            </a:r>
            <a:endParaRPr lang="en-US" sz="4000" dirty="0"/>
          </a:p>
        </p:txBody>
      </p:sp>
      <p:sp>
        <p:nvSpPr>
          <p:cNvPr id="5" name="Text 1"/>
          <p:cNvSpPr/>
          <p:nvPr>
            <p:ph idx="102" type="body" hasCustomPrompt="1"/>
          </p:nvPr>
        </p:nvSpPr>
        <p:spPr>
          <a:xfrm>
            <a:off x="731520" y="3703320"/>
            <a:ext cx="6400800" cy="1005840"/>
          </a:xfrm>
          <a:prstGeom prst="rect">
            <a:avLst/>
          </a:prstGeom>
          <a:noFill/>
          <a:ln/>
        </p:spPr>
        <p:txBody>
          <a:bodyPr wrap="square" lIns="0" tIns="0" rIns="0" bIns="0" rtlCol="0" anchor="t"/>
          <a:lstStyle/>
          <a:p>
            <a:pPr algn="l" indent="0" marL="0">
              <a:buNone/>
            </a:pPr>
            <a:r>
              <a:rPr lang="en-US" sz="1800" dirty="0">
                <a:solidFill>
                  <a:schemeClr val="accent2"/>
                </a:solidFill>
              </a:rPr>
              <a:t>Python Internship Project</a:t>
            </a:r>
            <a:endParaRPr lang="en-US" sz="1800" dirty="0"/>
          </a:p>
          <a:p>
            <a:pPr algn="l" indent="0" marL="0">
              <a:buNone/>
            </a:pPr>
            <a:r>
              <a:rPr lang="en-US" sz="1800" dirty="0">
                <a:solidFill>
                  <a:schemeClr val="accent2"/>
                </a:solidFill>
              </a:rPr>
              <a:t>Week 6 - Task 4: Project Documentation &amp; Presentation</a:t>
            </a:r>
            <a:endParaRPr lang="en-US" sz="1800" dirty="0"/>
          </a:p>
        </p:txBody>
      </p:sp>
      <p:sp>
        <p:nvSpPr>
          <p:cNvPr id="6" name="Tech chip Python"/>
          <p:cNvSpPr txBox="1"/>
          <p:nvPr/>
        </p:nvSpPr>
        <p:spPr>
          <a:xfrm>
            <a:off x="731520" y="5212080"/>
            <a:ext cx="1188720" cy="384048"/>
          </a:xfrm>
          <a:prstGeom prst="roundRect">
            <a:avLst>
              <a:gd name="adj" fmla="val 47619"/>
            </a:avLst>
          </a:prstGeom>
          <a:solidFill>
            <a:schemeClr val="accent1"/>
          </a:solidFill>
          <a:ln/>
        </p:spPr>
        <p:txBody>
          <a:bodyPr wrap="square" lIns="0" tIns="0" rIns="0" bIns="0" rtlCol="0" anchor="ctr"/>
          <a:lstStyle/>
          <a:p>
            <a:pPr algn="ctr" indent="0" marL="0">
              <a:buNone/>
            </a:pPr>
            <a:r>
              <a:rPr lang="en-US" sz="1400" dirty="0">
                <a:solidFill>
                  <a:schemeClr val="bg1"/>
                </a:solidFill>
              </a:rPr>
              <a:t>Python</a:t>
            </a:r>
            <a:endParaRPr lang="en-US" sz="1400" dirty="0"/>
          </a:p>
        </p:txBody>
      </p:sp>
      <p:sp>
        <p:nvSpPr>
          <p:cNvPr id="7" name="Tech chip JSON"/>
          <p:cNvSpPr txBox="1"/>
          <p:nvPr/>
        </p:nvSpPr>
        <p:spPr>
          <a:xfrm>
            <a:off x="2103120" y="5212080"/>
            <a:ext cx="914400" cy="384048"/>
          </a:xfrm>
          <a:prstGeom prst="roundRect">
            <a:avLst>
              <a:gd name="adj" fmla="val 47619"/>
            </a:avLst>
          </a:prstGeom>
          <a:solidFill>
            <a:schemeClr val="accent1"/>
          </a:solidFill>
          <a:ln/>
        </p:spPr>
        <p:txBody>
          <a:bodyPr wrap="square" lIns="0" tIns="0" rIns="0" bIns="0" rtlCol="0" anchor="ctr"/>
          <a:lstStyle/>
          <a:p>
            <a:pPr algn="ctr" indent="0" marL="0">
              <a:buNone/>
            </a:pPr>
            <a:r>
              <a:rPr lang="en-US" sz="1400" dirty="0">
                <a:solidFill>
                  <a:schemeClr val="bg1"/>
                </a:solidFill>
              </a:rPr>
              <a:t>JSON</a:t>
            </a:r>
            <a:endParaRPr lang="en-US" sz="1400" dirty="0"/>
          </a:p>
        </p:txBody>
      </p:sp>
      <p:sp>
        <p:nvSpPr>
          <p:cNvPr id="8" name="Tech chip VS Code"/>
          <p:cNvSpPr txBox="1"/>
          <p:nvPr/>
        </p:nvSpPr>
        <p:spPr>
          <a:xfrm>
            <a:off x="3200400" y="5212080"/>
            <a:ext cx="1188720" cy="384048"/>
          </a:xfrm>
          <a:prstGeom prst="roundRect">
            <a:avLst>
              <a:gd name="adj" fmla="val 47619"/>
            </a:avLst>
          </a:prstGeom>
          <a:solidFill>
            <a:schemeClr val="accent1"/>
          </a:solidFill>
          <a:ln/>
        </p:spPr>
        <p:txBody>
          <a:bodyPr wrap="square" lIns="0" tIns="0" rIns="0" bIns="0" rtlCol="0" anchor="ctr"/>
          <a:lstStyle/>
          <a:p>
            <a:pPr algn="ctr" indent="0" marL="0">
              <a:buNone/>
            </a:pPr>
            <a:r>
              <a:rPr lang="en-US" sz="1400" dirty="0">
                <a:solidFill>
                  <a:schemeClr val="bg1"/>
                </a:solidFill>
              </a:rPr>
              <a:t>VS Code</a:t>
            </a:r>
            <a:endParaRPr lang="en-US" sz="1400" dirty="0"/>
          </a:p>
        </p:txBody>
      </p:sp>
      <p:sp>
        <p:nvSpPr>
          <p:cNvPr id="9" name="Tech chip Git &amp;amp; GitHub"/>
          <p:cNvSpPr txBox="1"/>
          <p:nvPr/>
        </p:nvSpPr>
        <p:spPr>
          <a:xfrm>
            <a:off x="4572000" y="5212080"/>
            <a:ext cx="1554480" cy="384048"/>
          </a:xfrm>
          <a:prstGeom prst="roundRect">
            <a:avLst>
              <a:gd name="adj" fmla="val 47619"/>
            </a:avLst>
          </a:prstGeom>
          <a:solidFill>
            <a:schemeClr val="accent1"/>
          </a:solidFill>
          <a:ln/>
        </p:spPr>
        <p:txBody>
          <a:bodyPr wrap="square" lIns="0" tIns="0" rIns="0" bIns="0" rtlCol="0" anchor="ctr"/>
          <a:lstStyle/>
          <a:p>
            <a:pPr algn="ctr" indent="0" marL="0">
              <a:buNone/>
            </a:pPr>
            <a:r>
              <a:rPr lang="en-US" sz="1400" dirty="0">
                <a:solidFill>
                  <a:schemeClr val="bg1"/>
                </a:solidFill>
              </a:rPr>
              <a:t>Git &amp; GitHub</a:t>
            </a:r>
            <a:endParaRPr lang="en-US" sz="1400" dirty="0"/>
          </a:p>
        </p:txBody>
      </p:sp>
      <p:sp>
        <p:nvSpPr>
          <p:cNvPr id="10" name="Presenter details card"/>
          <p:cNvSpPr/>
          <p:nvPr/>
        </p:nvSpPr>
        <p:spPr>
          <a:xfrm>
            <a:off x="7772400" y="914400"/>
            <a:ext cx="3840480" cy="5029200"/>
          </a:xfrm>
          <a:prstGeom prst="roundRect">
            <a:avLst>
              <a:gd name="adj" fmla="val 4286"/>
            </a:avLst>
          </a:prstGeom>
          <a:solidFill>
            <a:schemeClr val="accent1"/>
          </a:solidFill>
          <a:ln/>
        </p:spPr>
      </p:sp>
      <p:sp>
        <p:nvSpPr>
          <p:cNvPr id="11" name="Label PRESENTED BY"/>
          <p:cNvSpPr txBox="1"/>
          <p:nvPr/>
        </p:nvSpPr>
        <p:spPr>
          <a:xfrm>
            <a:off x="8092440" y="1234440"/>
            <a:ext cx="3200400" cy="274320"/>
          </a:xfrm>
          <a:prstGeom prst="rect">
            <a:avLst/>
          </a:prstGeom>
          <a:noFill/>
          <a:ln/>
        </p:spPr>
        <p:txBody>
          <a:bodyPr wrap="square" lIns="0" tIns="0" rIns="0" bIns="0" rtlCol="0" anchor="t"/>
          <a:lstStyle/>
          <a:p>
            <a:pPr indent="0" marL="0">
              <a:buNone/>
            </a:pPr>
            <a:r>
              <a:rPr lang="en-US" sz="1300" b="1" dirty="0">
                <a:solidFill>
                  <a:schemeClr val="accent2"/>
                </a:solidFill>
              </a:rPr>
              <a:t>PRESENTED BY</a:t>
            </a:r>
            <a:endParaRPr lang="en-US" sz="1300" dirty="0"/>
          </a:p>
        </p:txBody>
      </p:sp>
      <p:sp>
        <p:nvSpPr>
          <p:cNvPr id="12" name="Placeholder PRESENTED BY"/>
          <p:cNvSpPr txBox="1"/>
          <p:nvPr/>
        </p:nvSpPr>
        <p:spPr>
          <a:xfrm>
            <a:off x="8092440" y="1536192"/>
            <a:ext cx="3200400" cy="594360"/>
          </a:xfrm>
          <a:prstGeom prst="rect">
            <a:avLst/>
          </a:prstGeom>
          <a:noFill/>
          <a:ln/>
        </p:spPr>
        <p:txBody>
          <a:bodyPr wrap="square" lIns="0" tIns="0" rIns="0" bIns="0" rtlCol="0" anchor="t"/>
          <a:lstStyle/>
          <a:p>
            <a:pPr indent="0" marL="0">
              <a:buNone/>
            </a:pPr>
            <a:r>
              <a:rPr lang="en-US" sz="2000" dirty="0">
                <a:solidFill>
                  <a:schemeClr val="bg1"/>
                </a:solidFill>
              </a:rPr>
              <a:t>[Your Name]</a:t>
            </a:r>
            <a:endParaRPr lang="en-US" sz="2000" dirty="0"/>
          </a:p>
        </p:txBody>
      </p:sp>
      <p:sp>
        <p:nvSpPr>
          <p:cNvPr id="13" name="Label COLLEGE"/>
          <p:cNvSpPr txBox="1"/>
          <p:nvPr/>
        </p:nvSpPr>
        <p:spPr>
          <a:xfrm>
            <a:off x="8092440" y="2331720"/>
            <a:ext cx="3200400" cy="274320"/>
          </a:xfrm>
          <a:prstGeom prst="rect">
            <a:avLst/>
          </a:prstGeom>
          <a:noFill/>
          <a:ln/>
        </p:spPr>
        <p:txBody>
          <a:bodyPr wrap="square" lIns="0" tIns="0" rIns="0" bIns="0" rtlCol="0" anchor="t"/>
          <a:lstStyle/>
          <a:p>
            <a:pPr indent="0" marL="0">
              <a:buNone/>
            </a:pPr>
            <a:r>
              <a:rPr lang="en-US" sz="1300" b="1" dirty="0">
                <a:solidFill>
                  <a:schemeClr val="accent2"/>
                </a:solidFill>
              </a:rPr>
              <a:t>COLLEGE</a:t>
            </a:r>
            <a:endParaRPr lang="en-US" sz="1300" dirty="0"/>
          </a:p>
        </p:txBody>
      </p:sp>
      <p:sp>
        <p:nvSpPr>
          <p:cNvPr id="14" name="Placeholder COLLEGE"/>
          <p:cNvSpPr txBox="1"/>
          <p:nvPr/>
        </p:nvSpPr>
        <p:spPr>
          <a:xfrm>
            <a:off x="8092440" y="2633472"/>
            <a:ext cx="3200400" cy="594360"/>
          </a:xfrm>
          <a:prstGeom prst="rect">
            <a:avLst/>
          </a:prstGeom>
          <a:noFill/>
          <a:ln/>
        </p:spPr>
        <p:txBody>
          <a:bodyPr wrap="square" lIns="0" tIns="0" rIns="0" bIns="0" rtlCol="0" anchor="t"/>
          <a:lstStyle/>
          <a:p>
            <a:pPr indent="0" marL="0">
              <a:buNone/>
            </a:pPr>
            <a:r>
              <a:rPr lang="en-US" sz="2000" dirty="0">
                <a:solidFill>
                  <a:schemeClr val="bg1"/>
                </a:solidFill>
              </a:rPr>
              <a:t>[College Name]</a:t>
            </a:r>
            <a:endParaRPr lang="en-US" sz="2000" dirty="0"/>
          </a:p>
        </p:txBody>
      </p:sp>
      <p:sp>
        <p:nvSpPr>
          <p:cNvPr id="15" name="Label BRANCH AND YEAR"/>
          <p:cNvSpPr txBox="1"/>
          <p:nvPr/>
        </p:nvSpPr>
        <p:spPr>
          <a:xfrm>
            <a:off x="8092440" y="3429000"/>
            <a:ext cx="3200400" cy="274320"/>
          </a:xfrm>
          <a:prstGeom prst="rect">
            <a:avLst/>
          </a:prstGeom>
          <a:noFill/>
          <a:ln/>
        </p:spPr>
        <p:txBody>
          <a:bodyPr wrap="square" lIns="0" tIns="0" rIns="0" bIns="0" rtlCol="0" anchor="t"/>
          <a:lstStyle/>
          <a:p>
            <a:pPr indent="0" marL="0">
              <a:buNone/>
            </a:pPr>
            <a:r>
              <a:rPr lang="en-US" sz="1300" b="1" dirty="0">
                <a:solidFill>
                  <a:schemeClr val="accent2"/>
                </a:solidFill>
              </a:rPr>
              <a:t>BRANCH AND YEAR</a:t>
            </a:r>
            <a:endParaRPr lang="en-US" sz="1300" dirty="0"/>
          </a:p>
        </p:txBody>
      </p:sp>
      <p:sp>
        <p:nvSpPr>
          <p:cNvPr id="16" name="Placeholder BRANCH AND YEAR"/>
          <p:cNvSpPr txBox="1"/>
          <p:nvPr/>
        </p:nvSpPr>
        <p:spPr>
          <a:xfrm>
            <a:off x="8092440" y="3730752"/>
            <a:ext cx="3200400" cy="594360"/>
          </a:xfrm>
          <a:prstGeom prst="rect">
            <a:avLst/>
          </a:prstGeom>
          <a:noFill/>
          <a:ln/>
        </p:spPr>
        <p:txBody>
          <a:bodyPr wrap="square" lIns="0" tIns="0" rIns="0" bIns="0" rtlCol="0" anchor="t"/>
          <a:lstStyle/>
          <a:p>
            <a:pPr indent="0" marL="0">
              <a:buNone/>
            </a:pPr>
            <a:r>
              <a:rPr lang="en-US" sz="2000" dirty="0">
                <a:solidFill>
                  <a:schemeClr val="bg1"/>
                </a:solidFill>
              </a:rPr>
              <a:t>[Branch - Year of Study]</a:t>
            </a:r>
            <a:endParaRPr lang="en-US" sz="2000" dirty="0"/>
          </a:p>
        </p:txBody>
      </p:sp>
      <p:sp>
        <p:nvSpPr>
          <p:cNvPr id="17" name="Label INTERNSHIP"/>
          <p:cNvSpPr txBox="1"/>
          <p:nvPr/>
        </p:nvSpPr>
        <p:spPr>
          <a:xfrm>
            <a:off x="8092440" y="4526280"/>
            <a:ext cx="3200400" cy="274320"/>
          </a:xfrm>
          <a:prstGeom prst="rect">
            <a:avLst/>
          </a:prstGeom>
          <a:noFill/>
          <a:ln/>
        </p:spPr>
        <p:txBody>
          <a:bodyPr wrap="square" lIns="0" tIns="0" rIns="0" bIns="0" rtlCol="0" anchor="t"/>
          <a:lstStyle/>
          <a:p>
            <a:pPr indent="0" marL="0">
              <a:buNone/>
            </a:pPr>
            <a:r>
              <a:rPr lang="en-US" sz="1300" b="1" dirty="0">
                <a:solidFill>
                  <a:schemeClr val="accent2"/>
                </a:solidFill>
              </a:rPr>
              <a:t>INTERNSHIP</a:t>
            </a:r>
            <a:endParaRPr lang="en-US" sz="1300" dirty="0"/>
          </a:p>
        </p:txBody>
      </p:sp>
      <p:sp>
        <p:nvSpPr>
          <p:cNvPr id="18" name="Placeholder INTERNSHIP"/>
          <p:cNvSpPr txBox="1"/>
          <p:nvPr/>
        </p:nvSpPr>
        <p:spPr>
          <a:xfrm>
            <a:off x="8092440" y="4828032"/>
            <a:ext cx="3200400" cy="594360"/>
          </a:xfrm>
          <a:prstGeom prst="rect">
            <a:avLst/>
          </a:prstGeom>
          <a:noFill/>
          <a:ln/>
        </p:spPr>
        <p:txBody>
          <a:bodyPr wrap="square" lIns="0" tIns="0" rIns="0" bIns="0" rtlCol="0" anchor="t"/>
          <a:lstStyle/>
          <a:p>
            <a:pPr indent="0" marL="0">
              <a:buNone/>
            </a:pPr>
            <a:r>
              <a:rPr lang="en-US" sz="2000" dirty="0">
                <a:solidFill>
                  <a:schemeClr val="bg1"/>
                </a:solidFill>
              </a:rPr>
              <a:t>[Internship Organisation / Programme]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Introduction</a:t>
            </a:r>
            <a:endParaRPr lang="en-US" sz="3400" dirty="0"/>
          </a:p>
        </p:txBody>
      </p:sp>
      <p:sp>
        <p:nvSpPr>
          <p:cNvPr id="3" name="Lead statement"/>
          <p:cNvSpPr txBox="1"/>
          <p:nvPr/>
        </p:nvSpPr>
        <p:spPr>
          <a:xfrm>
            <a:off x="548640" y="1554480"/>
            <a:ext cx="5303520" cy="1554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A simple, menu-driven Python application for managing student records efficiently.</a:t>
            </a:r>
            <a:endParaRPr lang="en-US" sz="2400" dirty="0"/>
          </a:p>
        </p:txBody>
      </p:sp>
      <p:sp>
        <p:nvSpPr>
          <p:cNvPr id="4" name="Intro bullets"/>
          <p:cNvSpPr txBox="1"/>
          <p:nvPr/>
        </p:nvSpPr>
        <p:spPr>
          <a:xfrm>
            <a:off x="548640" y="3291840"/>
            <a:ext cx="53035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Add, display, search, update and delete student information</a:t>
            </a:r>
            <a:endParaRPr lang="en-US" sz="1600" dirty="0"/>
          </a:p>
          <a:p>
            <a:pPr marL="342900" indent="-342900">
              <a:spcAft>
                <a:spcPts val="1000"/>
              </a:spcAft>
              <a:buSzPct val="100000"/>
              <a:buChar char="•"/>
            </a:pPr>
            <a:r>
              <a:rPr lang="en-US" sz="1600" dirty="0">
                <a:solidFill>
                  <a:schemeClr val="tx1"/>
                </a:solidFill>
              </a:rPr>
              <a:t>Records stay saved between runs using a JSON file</a:t>
            </a:r>
            <a:endParaRPr lang="en-US" sz="1600" dirty="0"/>
          </a:p>
          <a:p>
            <a:pPr marL="342900" indent="-342900">
              <a:spcAft>
                <a:spcPts val="1000"/>
              </a:spcAft>
              <a:buSzPct val="100000"/>
              <a:buChar char="•"/>
            </a:pPr>
            <a:r>
              <a:rPr lang="en-US" sz="1600" dirty="0">
                <a:solidFill>
                  <a:schemeClr val="tx1"/>
                </a:solidFill>
              </a:rPr>
              <a:t>Shows the Python concepts learned during the internship</a:t>
            </a:r>
            <a:endParaRPr lang="en-US" sz="1600" dirty="0"/>
          </a:p>
        </p:txBody>
      </p:sp>
      <p:sp>
        <p:nvSpPr>
          <p:cNvPr id="5" name="Intro card 1"/>
          <p:cNvSpPr/>
          <p:nvPr/>
        </p:nvSpPr>
        <p:spPr>
          <a:xfrm>
            <a:off x="6400800" y="1554480"/>
            <a:ext cx="5212080" cy="1325880"/>
          </a:xfrm>
          <a:prstGeom prst="roundRect">
            <a:avLst>
              <a:gd name="adj" fmla="val 8276"/>
            </a:avLst>
          </a:prstGeom>
          <a:solidFill>
            <a:schemeClr val="bg2"/>
          </a:solidFill>
          <a:ln/>
        </p:spPr>
      </p:sp>
      <p:sp>
        <p:nvSpPr>
          <p:cNvPr id="6" name="Intro 1 circle"/>
          <p:cNvSpPr/>
          <p:nvPr/>
        </p:nvSpPr>
        <p:spPr>
          <a:xfrm>
            <a:off x="6675120" y="1856232"/>
            <a:ext cx="731520" cy="731520"/>
          </a:xfrm>
          <a:prstGeom prst="ellipse">
            <a:avLst/>
          </a:prstGeom>
          <a:solidFill>
            <a:schemeClr val="accent1"/>
          </a:solidFill>
          <a:ln/>
        </p:spPr>
      </p:sp>
      <p:pic>
        <p:nvPicPr>
          <p:cNvPr id="7" name="Image 0" descr="Intro 1 icon">    </p:cNvPr>
          <p:cNvPicPr>
            <a:picLocks noChangeAspect="1"/>
          </p:cNvPicPr>
          <p:nvPr/>
        </p:nvPicPr>
        <p:blipFill>
          <a:blip r:embed="rId1"/>
          <a:stretch>
            <a:fillRect/>
          </a:stretch>
        </p:blipFill>
        <p:spPr>
          <a:xfrm>
            <a:off x="6850685" y="2031797"/>
            <a:ext cx="380390" cy="380390"/>
          </a:xfrm>
          <a:prstGeom prst="rect">
            <a:avLst/>
          </a:prstGeom>
        </p:spPr>
      </p:pic>
      <p:sp>
        <p:nvSpPr>
          <p:cNvPr id="8" name="Intro head 1"/>
          <p:cNvSpPr txBox="1"/>
          <p:nvPr/>
        </p:nvSpPr>
        <p:spPr>
          <a:xfrm>
            <a:off x="7680960" y="1810512"/>
            <a:ext cx="3749040" cy="365760"/>
          </a:xfrm>
          <a:prstGeom prst="rect">
            <a:avLst/>
          </a:prstGeom>
          <a:noFill/>
          <a:ln/>
        </p:spPr>
        <p:txBody>
          <a:bodyPr wrap="square" lIns="0" tIns="0" rIns="0" bIns="0" rtlCol="0" anchor="t"/>
          <a:lstStyle/>
          <a:p>
            <a:pPr indent="0" marL="0">
              <a:buNone/>
            </a:pPr>
            <a:r>
              <a:rPr lang="en-US" sz="1800" b="1" dirty="0">
                <a:solidFill>
                  <a:schemeClr val="tx2"/>
                </a:solidFill>
              </a:rPr>
              <a:t>Menu-driven console app</a:t>
            </a:r>
            <a:endParaRPr lang="en-US" sz="1800" dirty="0"/>
          </a:p>
        </p:txBody>
      </p:sp>
      <p:sp>
        <p:nvSpPr>
          <p:cNvPr id="9" name="Intro desc 1"/>
          <p:cNvSpPr txBox="1"/>
          <p:nvPr/>
        </p:nvSpPr>
        <p:spPr>
          <a:xfrm>
            <a:off x="7680960" y="2212848"/>
            <a:ext cx="3749040" cy="548640"/>
          </a:xfrm>
          <a:prstGeom prst="rect">
            <a:avLst/>
          </a:prstGeom>
          <a:noFill/>
          <a:ln/>
        </p:spPr>
        <p:txBody>
          <a:bodyPr wrap="square" lIns="0" tIns="0" rIns="0" bIns="0" rtlCol="0" anchor="t"/>
          <a:lstStyle/>
          <a:p>
            <a:pPr indent="0" marL="0">
              <a:buNone/>
            </a:pPr>
            <a:r>
              <a:rPr lang="en-US" sz="1400" dirty="0">
                <a:solidFill>
                  <a:schemeClr val="tx1"/>
                </a:solidFill>
              </a:rPr>
              <a:t>Simple numbered menu; no extra setup needed</a:t>
            </a:r>
            <a:endParaRPr lang="en-US" sz="1400" dirty="0"/>
          </a:p>
        </p:txBody>
      </p:sp>
      <p:sp>
        <p:nvSpPr>
          <p:cNvPr id="10" name="Intro card 2"/>
          <p:cNvSpPr/>
          <p:nvPr/>
        </p:nvSpPr>
        <p:spPr>
          <a:xfrm>
            <a:off x="6400800" y="3063240"/>
            <a:ext cx="5212080" cy="1325880"/>
          </a:xfrm>
          <a:prstGeom prst="roundRect">
            <a:avLst>
              <a:gd name="adj" fmla="val 8276"/>
            </a:avLst>
          </a:prstGeom>
          <a:solidFill>
            <a:schemeClr val="bg2"/>
          </a:solidFill>
          <a:ln/>
        </p:spPr>
      </p:sp>
      <p:sp>
        <p:nvSpPr>
          <p:cNvPr id="11" name="Intro 2 circle"/>
          <p:cNvSpPr/>
          <p:nvPr/>
        </p:nvSpPr>
        <p:spPr>
          <a:xfrm>
            <a:off x="6675120" y="3364992"/>
            <a:ext cx="731520" cy="731520"/>
          </a:xfrm>
          <a:prstGeom prst="ellipse">
            <a:avLst/>
          </a:prstGeom>
          <a:solidFill>
            <a:schemeClr val="accent3"/>
          </a:solidFill>
          <a:ln/>
        </p:spPr>
      </p:sp>
      <p:pic>
        <p:nvPicPr>
          <p:cNvPr id="12" name="Image 1" descr="Intro 2 icon">    </p:cNvPr>
          <p:cNvPicPr>
            <a:picLocks noChangeAspect="1"/>
          </p:cNvPicPr>
          <p:nvPr/>
        </p:nvPicPr>
        <p:blipFill>
          <a:blip r:embed="rId2"/>
          <a:stretch>
            <a:fillRect/>
          </a:stretch>
        </p:blipFill>
        <p:spPr>
          <a:xfrm>
            <a:off x="6850685" y="3540557"/>
            <a:ext cx="380390" cy="380390"/>
          </a:xfrm>
          <a:prstGeom prst="rect">
            <a:avLst/>
          </a:prstGeom>
        </p:spPr>
      </p:pic>
      <p:sp>
        <p:nvSpPr>
          <p:cNvPr id="13" name="Intro head 2"/>
          <p:cNvSpPr txBox="1"/>
          <p:nvPr/>
        </p:nvSpPr>
        <p:spPr>
          <a:xfrm>
            <a:off x="7680960" y="3319272"/>
            <a:ext cx="3749040" cy="365760"/>
          </a:xfrm>
          <a:prstGeom prst="rect">
            <a:avLst/>
          </a:prstGeom>
          <a:noFill/>
          <a:ln/>
        </p:spPr>
        <p:txBody>
          <a:bodyPr wrap="square" lIns="0" tIns="0" rIns="0" bIns="0" rtlCol="0" anchor="t"/>
          <a:lstStyle/>
          <a:p>
            <a:pPr indent="0" marL="0">
              <a:buNone/>
            </a:pPr>
            <a:r>
              <a:rPr lang="en-US" sz="1800" b="1" dirty="0">
                <a:solidFill>
                  <a:schemeClr val="tx2"/>
                </a:solidFill>
              </a:rPr>
              <a:t>Object-Oriented design</a:t>
            </a:r>
            <a:endParaRPr lang="en-US" sz="1800" dirty="0"/>
          </a:p>
        </p:txBody>
      </p:sp>
      <p:sp>
        <p:nvSpPr>
          <p:cNvPr id="14" name="Intro desc 2"/>
          <p:cNvSpPr txBox="1"/>
          <p:nvPr/>
        </p:nvSpPr>
        <p:spPr>
          <a:xfrm>
            <a:off x="7680960" y="3721608"/>
            <a:ext cx="3749040" cy="548640"/>
          </a:xfrm>
          <a:prstGeom prst="rect">
            <a:avLst/>
          </a:prstGeom>
          <a:noFill/>
          <a:ln/>
        </p:spPr>
        <p:txBody>
          <a:bodyPr wrap="square" lIns="0" tIns="0" rIns="0" bIns="0" rtlCol="0" anchor="t"/>
          <a:lstStyle/>
          <a:p>
            <a:pPr indent="0" marL="0">
              <a:buNone/>
            </a:pPr>
            <a:r>
              <a:rPr lang="en-US" sz="1400" dirty="0">
                <a:solidFill>
                  <a:schemeClr val="tx1"/>
                </a:solidFill>
              </a:rPr>
              <a:t>Classes organise the code into clear parts</a:t>
            </a:r>
            <a:endParaRPr lang="en-US" sz="1400" dirty="0"/>
          </a:p>
        </p:txBody>
      </p:sp>
      <p:sp>
        <p:nvSpPr>
          <p:cNvPr id="15" name="Intro card 3"/>
          <p:cNvSpPr/>
          <p:nvPr/>
        </p:nvSpPr>
        <p:spPr>
          <a:xfrm>
            <a:off x="6400800" y="4572000"/>
            <a:ext cx="5212080" cy="1325880"/>
          </a:xfrm>
          <a:prstGeom prst="roundRect">
            <a:avLst>
              <a:gd name="adj" fmla="val 8276"/>
            </a:avLst>
          </a:prstGeom>
          <a:solidFill>
            <a:schemeClr val="bg2"/>
          </a:solidFill>
          <a:ln/>
        </p:spPr>
      </p:sp>
      <p:sp>
        <p:nvSpPr>
          <p:cNvPr id="16" name="Intro 3 circle"/>
          <p:cNvSpPr/>
          <p:nvPr/>
        </p:nvSpPr>
        <p:spPr>
          <a:xfrm>
            <a:off x="6675120" y="4873752"/>
            <a:ext cx="731520" cy="731520"/>
          </a:xfrm>
          <a:prstGeom prst="ellipse">
            <a:avLst/>
          </a:prstGeom>
          <a:solidFill>
            <a:schemeClr val="accent4"/>
          </a:solidFill>
          <a:ln/>
        </p:spPr>
      </p:sp>
      <p:pic>
        <p:nvPicPr>
          <p:cNvPr id="17" name="Image 2" descr="Intro 3 icon">    </p:cNvPr>
          <p:cNvPicPr>
            <a:picLocks noChangeAspect="1"/>
          </p:cNvPicPr>
          <p:nvPr/>
        </p:nvPicPr>
        <p:blipFill>
          <a:blip r:embed="rId3"/>
          <a:stretch>
            <a:fillRect/>
          </a:stretch>
        </p:blipFill>
        <p:spPr>
          <a:xfrm>
            <a:off x="6850685" y="5049317"/>
            <a:ext cx="380390" cy="380390"/>
          </a:xfrm>
          <a:prstGeom prst="rect">
            <a:avLst/>
          </a:prstGeom>
        </p:spPr>
      </p:pic>
      <p:sp>
        <p:nvSpPr>
          <p:cNvPr id="18" name="Intro head 3"/>
          <p:cNvSpPr txBox="1"/>
          <p:nvPr/>
        </p:nvSpPr>
        <p:spPr>
          <a:xfrm>
            <a:off x="7680960" y="4828032"/>
            <a:ext cx="3749040" cy="365760"/>
          </a:xfrm>
          <a:prstGeom prst="rect">
            <a:avLst/>
          </a:prstGeom>
          <a:noFill/>
          <a:ln/>
        </p:spPr>
        <p:txBody>
          <a:bodyPr wrap="square" lIns="0" tIns="0" rIns="0" bIns="0" rtlCol="0" anchor="t"/>
          <a:lstStyle/>
          <a:p>
            <a:pPr indent="0" marL="0">
              <a:buNone/>
            </a:pPr>
            <a:r>
              <a:rPr lang="en-US" sz="1800" b="1" dirty="0">
                <a:solidFill>
                  <a:schemeClr val="tx2"/>
                </a:solidFill>
              </a:rPr>
              <a:t>Permanent JSON storage</a:t>
            </a:r>
            <a:endParaRPr lang="en-US" sz="1800" dirty="0"/>
          </a:p>
        </p:txBody>
      </p:sp>
      <p:sp>
        <p:nvSpPr>
          <p:cNvPr id="19" name="Intro desc 3"/>
          <p:cNvSpPr txBox="1"/>
          <p:nvPr/>
        </p:nvSpPr>
        <p:spPr>
          <a:xfrm>
            <a:off x="7680960" y="5230368"/>
            <a:ext cx="3749040" cy="548640"/>
          </a:xfrm>
          <a:prstGeom prst="rect">
            <a:avLst/>
          </a:prstGeom>
          <a:noFill/>
          <a:ln/>
        </p:spPr>
        <p:txBody>
          <a:bodyPr wrap="square" lIns="0" tIns="0" rIns="0" bIns="0" rtlCol="0" anchor="t"/>
          <a:lstStyle/>
          <a:p>
            <a:pPr indent="0" marL="0">
              <a:buNone/>
            </a:pPr>
            <a:r>
              <a:rPr lang="en-US" sz="1400" dirty="0">
                <a:solidFill>
                  <a:schemeClr val="tx1"/>
                </a:solidFill>
              </a:rPr>
              <a:t>Student data is not lost when the program closes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Problem Statement</a:t>
            </a:r>
            <a:endParaRPr lang="en-US" sz="3400" dirty="0"/>
          </a:p>
        </p:txBody>
      </p:sp>
      <p:sp>
        <p:nvSpPr>
          <p:cNvPr id="3" name="Problem label"/>
          <p:cNvSpPr txBox="1"/>
          <p:nvPr/>
        </p:nvSpPr>
        <p:spPr>
          <a:xfrm>
            <a:off x="548640" y="1371600"/>
            <a:ext cx="5120640" cy="365760"/>
          </a:xfrm>
          <a:prstGeom prst="rect">
            <a:avLst/>
          </a:prstGeom>
          <a:noFill/>
          <a:ln/>
        </p:spPr>
        <p:txBody>
          <a:bodyPr wrap="square" lIns="0" tIns="0" rIns="0" bIns="0" rtlCol="0" anchor="t"/>
          <a:lstStyle/>
          <a:p>
            <a:pPr indent="0" marL="0">
              <a:buNone/>
            </a:pPr>
            <a:r>
              <a:rPr lang="en-US" sz="1800" b="1" dirty="0">
                <a:solidFill>
                  <a:schemeClr val="accent4"/>
                </a:solidFill>
              </a:rPr>
              <a:t>Managing records manually</a:t>
            </a:r>
            <a:endParaRPr lang="en-US" sz="1800" dirty="0"/>
          </a:p>
        </p:txBody>
      </p:sp>
      <p:sp>
        <p:nvSpPr>
          <p:cNvPr id="4" name="Problem card 1"/>
          <p:cNvSpPr/>
          <p:nvPr/>
        </p:nvSpPr>
        <p:spPr>
          <a:xfrm>
            <a:off x="548640" y="1874520"/>
            <a:ext cx="5120640" cy="868680"/>
          </a:xfrm>
          <a:prstGeom prst="roundRect">
            <a:avLst>
              <a:gd name="adj" fmla="val 12632"/>
            </a:avLst>
          </a:prstGeom>
          <a:solidFill>
            <a:schemeClr val="bg2"/>
          </a:solidFill>
          <a:ln/>
        </p:spPr>
      </p:sp>
      <p:sp>
        <p:nvSpPr>
          <p:cNvPr id="5" name="Problem 1 circle"/>
          <p:cNvSpPr/>
          <p:nvPr/>
        </p:nvSpPr>
        <p:spPr>
          <a:xfrm>
            <a:off x="731520" y="2011680"/>
            <a:ext cx="594360" cy="594360"/>
          </a:xfrm>
          <a:prstGeom prst="ellipse">
            <a:avLst/>
          </a:prstGeom>
          <a:solidFill>
            <a:schemeClr val="accent4"/>
          </a:solidFill>
          <a:ln/>
        </p:spPr>
      </p:sp>
      <p:pic>
        <p:nvPicPr>
          <p:cNvPr id="6" name="Image 0" descr="Problem 1 icon">    </p:cNvPr>
          <p:cNvPicPr>
            <a:picLocks noChangeAspect="1"/>
          </p:cNvPicPr>
          <p:nvPr/>
        </p:nvPicPr>
        <p:blipFill>
          <a:blip r:embed="rId1"/>
          <a:stretch>
            <a:fillRect/>
          </a:stretch>
        </p:blipFill>
        <p:spPr>
          <a:xfrm>
            <a:off x="874166" y="2154326"/>
            <a:ext cx="309067" cy="309067"/>
          </a:xfrm>
          <a:prstGeom prst="rect">
            <a:avLst/>
          </a:prstGeom>
        </p:spPr>
      </p:pic>
      <p:sp>
        <p:nvSpPr>
          <p:cNvPr id="7" name="Problem text 1"/>
          <p:cNvSpPr txBox="1"/>
          <p:nvPr/>
        </p:nvSpPr>
        <p:spPr>
          <a:xfrm>
            <a:off x="1554480" y="1984248"/>
            <a:ext cx="3977640" cy="658368"/>
          </a:xfrm>
          <a:prstGeom prst="rect">
            <a:avLst/>
          </a:prstGeom>
          <a:noFill/>
          <a:ln/>
        </p:spPr>
        <p:txBody>
          <a:bodyPr wrap="square" lIns="0" tIns="0" rIns="0" bIns="0" rtlCol="0" anchor="ctr"/>
          <a:lstStyle/>
          <a:p>
            <a:pPr indent="0" marL="0">
              <a:buNone/>
            </a:pPr>
            <a:r>
              <a:rPr lang="en-US" sz="1700" b="1" dirty="0">
                <a:solidFill>
                  <a:schemeClr val="tx2"/>
                </a:solidFill>
              </a:rPr>
              <a:t>Time-consuming to maintain</a:t>
            </a:r>
            <a:endParaRPr lang="en-US" sz="1700" dirty="0"/>
          </a:p>
        </p:txBody>
      </p:sp>
      <p:sp>
        <p:nvSpPr>
          <p:cNvPr id="8" name="Problem card 2"/>
          <p:cNvSpPr/>
          <p:nvPr/>
        </p:nvSpPr>
        <p:spPr>
          <a:xfrm>
            <a:off x="548640" y="2898648"/>
            <a:ext cx="5120640" cy="868680"/>
          </a:xfrm>
          <a:prstGeom prst="roundRect">
            <a:avLst>
              <a:gd name="adj" fmla="val 12632"/>
            </a:avLst>
          </a:prstGeom>
          <a:solidFill>
            <a:schemeClr val="bg2"/>
          </a:solidFill>
          <a:ln/>
        </p:spPr>
      </p:sp>
      <p:sp>
        <p:nvSpPr>
          <p:cNvPr id="9" name="Problem 2 circle"/>
          <p:cNvSpPr/>
          <p:nvPr/>
        </p:nvSpPr>
        <p:spPr>
          <a:xfrm>
            <a:off x="731520" y="3035808"/>
            <a:ext cx="594360" cy="594360"/>
          </a:xfrm>
          <a:prstGeom prst="ellipse">
            <a:avLst/>
          </a:prstGeom>
          <a:solidFill>
            <a:schemeClr val="accent4"/>
          </a:solidFill>
          <a:ln/>
        </p:spPr>
      </p:sp>
      <p:pic>
        <p:nvPicPr>
          <p:cNvPr id="10" name="Image 1" descr="Problem 2 icon">    </p:cNvPr>
          <p:cNvPicPr>
            <a:picLocks noChangeAspect="1"/>
          </p:cNvPicPr>
          <p:nvPr/>
        </p:nvPicPr>
        <p:blipFill>
          <a:blip r:embed="rId2"/>
          <a:stretch>
            <a:fillRect/>
          </a:stretch>
        </p:blipFill>
        <p:spPr>
          <a:xfrm>
            <a:off x="874166" y="3178454"/>
            <a:ext cx="309067" cy="309067"/>
          </a:xfrm>
          <a:prstGeom prst="rect">
            <a:avLst/>
          </a:prstGeom>
        </p:spPr>
      </p:pic>
      <p:sp>
        <p:nvSpPr>
          <p:cNvPr id="11" name="Problem text 2"/>
          <p:cNvSpPr txBox="1"/>
          <p:nvPr/>
        </p:nvSpPr>
        <p:spPr>
          <a:xfrm>
            <a:off x="1554480" y="3008376"/>
            <a:ext cx="3977640" cy="658368"/>
          </a:xfrm>
          <a:prstGeom prst="rect">
            <a:avLst/>
          </a:prstGeom>
          <a:noFill/>
          <a:ln/>
        </p:spPr>
        <p:txBody>
          <a:bodyPr wrap="square" lIns="0" tIns="0" rIns="0" bIns="0" rtlCol="0" anchor="ctr"/>
          <a:lstStyle/>
          <a:p>
            <a:pPr indent="0" marL="0">
              <a:buNone/>
            </a:pPr>
            <a:r>
              <a:rPr lang="en-US" sz="1700" b="1" dirty="0">
                <a:solidFill>
                  <a:schemeClr val="tx2"/>
                </a:solidFill>
              </a:rPr>
              <a:t>Prone to mistakes and errors</a:t>
            </a:r>
            <a:endParaRPr lang="en-US" sz="1700" dirty="0"/>
          </a:p>
        </p:txBody>
      </p:sp>
      <p:sp>
        <p:nvSpPr>
          <p:cNvPr id="12" name="Problem card 3"/>
          <p:cNvSpPr/>
          <p:nvPr/>
        </p:nvSpPr>
        <p:spPr>
          <a:xfrm>
            <a:off x="548640" y="3922776"/>
            <a:ext cx="5120640" cy="868680"/>
          </a:xfrm>
          <a:prstGeom prst="roundRect">
            <a:avLst>
              <a:gd name="adj" fmla="val 12632"/>
            </a:avLst>
          </a:prstGeom>
          <a:solidFill>
            <a:schemeClr val="bg2"/>
          </a:solidFill>
          <a:ln/>
        </p:spPr>
      </p:sp>
      <p:sp>
        <p:nvSpPr>
          <p:cNvPr id="13" name="Problem 3 circle"/>
          <p:cNvSpPr/>
          <p:nvPr/>
        </p:nvSpPr>
        <p:spPr>
          <a:xfrm>
            <a:off x="731520" y="4059936"/>
            <a:ext cx="594360" cy="594360"/>
          </a:xfrm>
          <a:prstGeom prst="ellipse">
            <a:avLst/>
          </a:prstGeom>
          <a:solidFill>
            <a:schemeClr val="accent4"/>
          </a:solidFill>
          <a:ln/>
        </p:spPr>
      </p:sp>
      <p:pic>
        <p:nvPicPr>
          <p:cNvPr id="14" name="Image 2" descr="Problem 3 icon">    </p:cNvPr>
          <p:cNvPicPr>
            <a:picLocks noChangeAspect="1"/>
          </p:cNvPicPr>
          <p:nvPr/>
        </p:nvPicPr>
        <p:blipFill>
          <a:blip r:embed="rId3"/>
          <a:stretch>
            <a:fillRect/>
          </a:stretch>
        </p:blipFill>
        <p:spPr>
          <a:xfrm>
            <a:off x="874166" y="4202582"/>
            <a:ext cx="309067" cy="309067"/>
          </a:xfrm>
          <a:prstGeom prst="rect">
            <a:avLst/>
          </a:prstGeom>
        </p:spPr>
      </p:pic>
      <p:sp>
        <p:nvSpPr>
          <p:cNvPr id="15" name="Problem text 3"/>
          <p:cNvSpPr txBox="1"/>
          <p:nvPr/>
        </p:nvSpPr>
        <p:spPr>
          <a:xfrm>
            <a:off x="1554480" y="4032504"/>
            <a:ext cx="3977640" cy="658368"/>
          </a:xfrm>
          <a:prstGeom prst="rect">
            <a:avLst/>
          </a:prstGeom>
          <a:noFill/>
          <a:ln/>
        </p:spPr>
        <p:txBody>
          <a:bodyPr wrap="square" lIns="0" tIns="0" rIns="0" bIns="0" rtlCol="0" anchor="ctr"/>
          <a:lstStyle/>
          <a:p>
            <a:pPr indent="0" marL="0">
              <a:buNone/>
            </a:pPr>
            <a:r>
              <a:rPr lang="en-US" sz="1700" b="1" dirty="0">
                <a:solidFill>
                  <a:schemeClr val="tx2"/>
                </a:solidFill>
              </a:rPr>
              <a:t>Information can be lost or misplaced</a:t>
            </a:r>
            <a:endParaRPr lang="en-US" sz="1700" dirty="0"/>
          </a:p>
        </p:txBody>
      </p:sp>
      <p:sp>
        <p:nvSpPr>
          <p:cNvPr id="16" name="Problem card 4"/>
          <p:cNvSpPr/>
          <p:nvPr/>
        </p:nvSpPr>
        <p:spPr>
          <a:xfrm>
            <a:off x="548640" y="4946904"/>
            <a:ext cx="5120640" cy="868680"/>
          </a:xfrm>
          <a:prstGeom prst="roundRect">
            <a:avLst>
              <a:gd name="adj" fmla="val 12632"/>
            </a:avLst>
          </a:prstGeom>
          <a:solidFill>
            <a:schemeClr val="bg2"/>
          </a:solidFill>
          <a:ln/>
        </p:spPr>
      </p:sp>
      <p:sp>
        <p:nvSpPr>
          <p:cNvPr id="17" name="Problem 4 circle"/>
          <p:cNvSpPr/>
          <p:nvPr/>
        </p:nvSpPr>
        <p:spPr>
          <a:xfrm>
            <a:off x="731520" y="5084064"/>
            <a:ext cx="594360" cy="594360"/>
          </a:xfrm>
          <a:prstGeom prst="ellipse">
            <a:avLst/>
          </a:prstGeom>
          <a:solidFill>
            <a:schemeClr val="accent4"/>
          </a:solidFill>
          <a:ln/>
        </p:spPr>
      </p:sp>
      <p:pic>
        <p:nvPicPr>
          <p:cNvPr id="18" name="Image 3" descr="Problem 4 icon">    </p:cNvPr>
          <p:cNvPicPr>
            <a:picLocks noChangeAspect="1"/>
          </p:cNvPicPr>
          <p:nvPr/>
        </p:nvPicPr>
        <p:blipFill>
          <a:blip r:embed="rId4"/>
          <a:stretch>
            <a:fillRect/>
          </a:stretch>
        </p:blipFill>
        <p:spPr>
          <a:xfrm>
            <a:off x="874166" y="5226710"/>
            <a:ext cx="309067" cy="309067"/>
          </a:xfrm>
          <a:prstGeom prst="rect">
            <a:avLst/>
          </a:prstGeom>
        </p:spPr>
      </p:pic>
      <p:sp>
        <p:nvSpPr>
          <p:cNvPr id="19" name="Problem text 4"/>
          <p:cNvSpPr txBox="1"/>
          <p:nvPr/>
        </p:nvSpPr>
        <p:spPr>
          <a:xfrm>
            <a:off x="1554480" y="5056632"/>
            <a:ext cx="3977640" cy="658368"/>
          </a:xfrm>
          <a:prstGeom prst="rect">
            <a:avLst/>
          </a:prstGeom>
          <a:noFill/>
          <a:ln/>
        </p:spPr>
        <p:txBody>
          <a:bodyPr wrap="square" lIns="0" tIns="0" rIns="0" bIns="0" rtlCol="0" anchor="ctr"/>
          <a:lstStyle/>
          <a:p>
            <a:pPr indent="0" marL="0">
              <a:buNone/>
            </a:pPr>
            <a:r>
              <a:rPr lang="en-US" sz="1700" b="1" dirty="0">
                <a:solidFill>
                  <a:schemeClr val="tx2"/>
                </a:solidFill>
              </a:rPr>
              <a:t>Hard to search and update records</a:t>
            </a:r>
            <a:endParaRPr lang="en-US" sz="1700" dirty="0"/>
          </a:p>
        </p:txBody>
      </p:sp>
      <p:sp>
        <p:nvSpPr>
          <p:cNvPr id="20" name="Problem to solution arrow"/>
          <p:cNvSpPr/>
          <p:nvPr/>
        </p:nvSpPr>
        <p:spPr>
          <a:xfrm>
            <a:off x="5852160" y="3383280"/>
            <a:ext cx="731520" cy="640080"/>
          </a:xfrm>
          <a:prstGeom prst="rightArrow">
            <a:avLst/>
          </a:prstGeom>
          <a:solidFill>
            <a:schemeClr val="accent1"/>
          </a:solidFill>
          <a:ln/>
        </p:spPr>
      </p:sp>
      <p:sp>
        <p:nvSpPr>
          <p:cNvPr id="21" name="Solution card"/>
          <p:cNvSpPr/>
          <p:nvPr/>
        </p:nvSpPr>
        <p:spPr>
          <a:xfrm>
            <a:off x="6766560" y="1371600"/>
            <a:ext cx="4846320" cy="4480560"/>
          </a:xfrm>
          <a:prstGeom prst="roundRect">
            <a:avLst>
              <a:gd name="adj" fmla="val 3673"/>
            </a:avLst>
          </a:prstGeom>
          <a:solidFill>
            <a:schemeClr val="tx2"/>
          </a:solidFill>
          <a:ln/>
        </p:spPr>
      </p:sp>
      <p:sp>
        <p:nvSpPr>
          <p:cNvPr id="22" name="Solution heading"/>
          <p:cNvSpPr txBox="1"/>
          <p:nvPr/>
        </p:nvSpPr>
        <p:spPr>
          <a:xfrm>
            <a:off x="7132320" y="1691640"/>
            <a:ext cx="4114800" cy="41148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Our solution</a:t>
            </a:r>
            <a:endParaRPr lang="en-US" sz="2400" dirty="0"/>
          </a:p>
        </p:txBody>
      </p:sp>
      <p:sp>
        <p:nvSpPr>
          <p:cNvPr id="23" name="Solution text"/>
          <p:cNvSpPr txBox="1"/>
          <p:nvPr/>
        </p:nvSpPr>
        <p:spPr>
          <a:xfrm>
            <a:off x="7132320" y="2286000"/>
            <a:ext cx="4114800" cy="1463040"/>
          </a:xfrm>
          <a:prstGeom prst="rect">
            <a:avLst/>
          </a:prstGeom>
          <a:noFill/>
          <a:ln/>
        </p:spPr>
        <p:txBody>
          <a:bodyPr wrap="square" lIns="0" tIns="0" rIns="0" bIns="0" rtlCol="0" anchor="t"/>
          <a:lstStyle/>
          <a:p>
            <a:pPr indent="0" marL="0">
              <a:buNone/>
            </a:pPr>
            <a:r>
              <a:rPr lang="en-US" sz="1700" dirty="0">
                <a:solidFill>
                  <a:schemeClr val="bg1"/>
                </a:solidFill>
              </a:rPr>
              <a:t>A menu-driven Python program that manages student records digitally and saves them in a JSON file for future use.</a:t>
            </a:r>
            <a:endParaRPr lang="en-US" sz="1700" dirty="0"/>
          </a:p>
        </p:txBody>
      </p:sp>
      <p:sp>
        <p:nvSpPr>
          <p:cNvPr id="24" name="Solution check 1 circle"/>
          <p:cNvSpPr/>
          <p:nvPr/>
        </p:nvSpPr>
        <p:spPr>
          <a:xfrm>
            <a:off x="7132320" y="4023360"/>
            <a:ext cx="384048" cy="384048"/>
          </a:xfrm>
          <a:prstGeom prst="ellipse">
            <a:avLst/>
          </a:prstGeom>
          <a:solidFill>
            <a:schemeClr val="accent2"/>
          </a:solidFill>
          <a:ln/>
        </p:spPr>
      </p:sp>
      <p:pic>
        <p:nvPicPr>
          <p:cNvPr id="25" name="Image 4" descr="Solution check 1 icon">    </p:cNvPr>
          <p:cNvPicPr>
            <a:picLocks noChangeAspect="1"/>
          </p:cNvPicPr>
          <p:nvPr/>
        </p:nvPicPr>
        <p:blipFill>
          <a:blip r:embed="rId5"/>
          <a:stretch>
            <a:fillRect/>
          </a:stretch>
        </p:blipFill>
        <p:spPr>
          <a:xfrm>
            <a:off x="7224492" y="4115532"/>
            <a:ext cx="199705" cy="199705"/>
          </a:xfrm>
          <a:prstGeom prst="rect">
            <a:avLst/>
          </a:prstGeom>
        </p:spPr>
      </p:pic>
      <p:sp>
        <p:nvSpPr>
          <p:cNvPr id="26" name="Solution point 1"/>
          <p:cNvSpPr txBox="1"/>
          <p:nvPr/>
        </p:nvSpPr>
        <p:spPr>
          <a:xfrm>
            <a:off x="7680960" y="4041648"/>
            <a:ext cx="3657600" cy="365760"/>
          </a:xfrm>
          <a:prstGeom prst="rect">
            <a:avLst/>
          </a:prstGeom>
          <a:noFill/>
          <a:ln/>
        </p:spPr>
        <p:txBody>
          <a:bodyPr wrap="square" lIns="0" tIns="0" rIns="0" bIns="0" rtlCol="0" anchor="ctr"/>
          <a:lstStyle/>
          <a:p>
            <a:pPr indent="0" marL="0">
              <a:buNone/>
            </a:pPr>
            <a:r>
              <a:rPr lang="en-US" sz="1600" dirty="0">
                <a:solidFill>
                  <a:schemeClr val="bg1"/>
                </a:solidFill>
              </a:rPr>
              <a:t>Quick search and update</a:t>
            </a:r>
            <a:endParaRPr lang="en-US" sz="1600" dirty="0"/>
          </a:p>
        </p:txBody>
      </p:sp>
      <p:sp>
        <p:nvSpPr>
          <p:cNvPr id="27" name="Solution check 2 circle"/>
          <p:cNvSpPr/>
          <p:nvPr/>
        </p:nvSpPr>
        <p:spPr>
          <a:xfrm>
            <a:off x="7132320" y="4590288"/>
            <a:ext cx="384048" cy="384048"/>
          </a:xfrm>
          <a:prstGeom prst="ellipse">
            <a:avLst/>
          </a:prstGeom>
          <a:solidFill>
            <a:schemeClr val="accent2"/>
          </a:solidFill>
          <a:ln/>
        </p:spPr>
      </p:sp>
      <p:pic>
        <p:nvPicPr>
          <p:cNvPr id="28" name="Image 5" descr="Solution check 2 icon">    </p:cNvPr>
          <p:cNvPicPr>
            <a:picLocks noChangeAspect="1"/>
          </p:cNvPicPr>
          <p:nvPr/>
        </p:nvPicPr>
        <p:blipFill>
          <a:blip r:embed="rId6"/>
          <a:stretch>
            <a:fillRect/>
          </a:stretch>
        </p:blipFill>
        <p:spPr>
          <a:xfrm>
            <a:off x="7224492" y="4682460"/>
            <a:ext cx="199705" cy="199705"/>
          </a:xfrm>
          <a:prstGeom prst="rect">
            <a:avLst/>
          </a:prstGeom>
        </p:spPr>
      </p:pic>
      <p:sp>
        <p:nvSpPr>
          <p:cNvPr id="29" name="Solution point 2"/>
          <p:cNvSpPr txBox="1"/>
          <p:nvPr/>
        </p:nvSpPr>
        <p:spPr>
          <a:xfrm>
            <a:off x="7680960" y="4608576"/>
            <a:ext cx="3657600" cy="365760"/>
          </a:xfrm>
          <a:prstGeom prst="rect">
            <a:avLst/>
          </a:prstGeom>
          <a:noFill/>
          <a:ln/>
        </p:spPr>
        <p:txBody>
          <a:bodyPr wrap="square" lIns="0" tIns="0" rIns="0" bIns="0" rtlCol="0" anchor="ctr"/>
          <a:lstStyle/>
          <a:p>
            <a:pPr indent="0" marL="0">
              <a:buNone/>
            </a:pPr>
            <a:r>
              <a:rPr lang="en-US" sz="1600" dirty="0">
                <a:solidFill>
                  <a:schemeClr val="bg1"/>
                </a:solidFill>
              </a:rPr>
              <a:t>Organised, structured data</a:t>
            </a:r>
            <a:endParaRPr lang="en-US" sz="1600" dirty="0"/>
          </a:p>
        </p:txBody>
      </p:sp>
      <p:sp>
        <p:nvSpPr>
          <p:cNvPr id="30" name="Solution check 3 circle"/>
          <p:cNvSpPr/>
          <p:nvPr/>
        </p:nvSpPr>
        <p:spPr>
          <a:xfrm>
            <a:off x="7132320" y="5157216"/>
            <a:ext cx="384048" cy="384048"/>
          </a:xfrm>
          <a:prstGeom prst="ellipse">
            <a:avLst/>
          </a:prstGeom>
          <a:solidFill>
            <a:schemeClr val="accent2"/>
          </a:solidFill>
          <a:ln/>
        </p:spPr>
      </p:sp>
      <p:pic>
        <p:nvPicPr>
          <p:cNvPr id="31" name="Image 6" descr="Solution check 3 icon">    </p:cNvPr>
          <p:cNvPicPr>
            <a:picLocks noChangeAspect="1"/>
          </p:cNvPicPr>
          <p:nvPr/>
        </p:nvPicPr>
        <p:blipFill>
          <a:blip r:embed="rId7"/>
          <a:stretch>
            <a:fillRect/>
          </a:stretch>
        </p:blipFill>
        <p:spPr>
          <a:xfrm>
            <a:off x="7224492" y="5249388"/>
            <a:ext cx="199705" cy="199705"/>
          </a:xfrm>
          <a:prstGeom prst="rect">
            <a:avLst/>
          </a:prstGeom>
        </p:spPr>
      </p:pic>
      <p:sp>
        <p:nvSpPr>
          <p:cNvPr id="32" name="Solution point 3"/>
          <p:cNvSpPr txBox="1"/>
          <p:nvPr/>
        </p:nvSpPr>
        <p:spPr>
          <a:xfrm>
            <a:off x="7680960" y="5175504"/>
            <a:ext cx="3657600" cy="365760"/>
          </a:xfrm>
          <a:prstGeom prst="rect">
            <a:avLst/>
          </a:prstGeom>
          <a:noFill/>
          <a:ln/>
        </p:spPr>
        <p:txBody>
          <a:bodyPr wrap="square" lIns="0" tIns="0" rIns="0" bIns="0" rtlCol="0" anchor="ctr"/>
          <a:lstStyle/>
          <a:p>
            <a:pPr indent="0" marL="0">
              <a:buNone/>
            </a:pPr>
            <a:r>
              <a:rPr lang="en-US" sz="1600" dirty="0">
                <a:solidFill>
                  <a:schemeClr val="bg1"/>
                </a:solidFill>
              </a:rPr>
              <a:t>Records saved permanently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Project Objectives</a:t>
            </a:r>
            <a:endParaRPr lang="en-US" sz="3400" dirty="0"/>
          </a:p>
        </p:txBody>
      </p:sp>
      <p:sp>
        <p:nvSpPr>
          <p:cNvPr id="3" name="Objective card 1"/>
          <p:cNvSpPr/>
          <p:nvPr/>
        </p:nvSpPr>
        <p:spPr>
          <a:xfrm>
            <a:off x="548640" y="1463040"/>
            <a:ext cx="3566160" cy="2148840"/>
          </a:xfrm>
          <a:prstGeom prst="roundRect">
            <a:avLst>
              <a:gd name="adj" fmla="val 5106"/>
            </a:avLst>
          </a:prstGeom>
          <a:solidFill>
            <a:schemeClr val="bg2"/>
          </a:solidFill>
          <a:ln/>
        </p:spPr>
      </p:sp>
      <p:sp>
        <p:nvSpPr>
          <p:cNvPr id="4" name="Objective number circle 1"/>
          <p:cNvSpPr/>
          <p:nvPr/>
        </p:nvSpPr>
        <p:spPr>
          <a:xfrm>
            <a:off x="822960" y="1737360"/>
            <a:ext cx="640080" cy="640080"/>
          </a:xfrm>
          <a:prstGeom prst="ellipse">
            <a:avLst/>
          </a:prstGeom>
          <a:solidFill>
            <a:schemeClr val="accent1"/>
          </a:solidFill>
          <a:ln/>
        </p:spPr>
      </p:sp>
      <p:sp>
        <p:nvSpPr>
          <p:cNvPr id="5" name="Objective number 1"/>
          <p:cNvSpPr txBox="1"/>
          <p:nvPr/>
        </p:nvSpPr>
        <p:spPr>
          <a:xfrm>
            <a:off x="822960" y="17373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Objective text 1"/>
          <p:cNvSpPr txBox="1"/>
          <p:nvPr/>
        </p:nvSpPr>
        <p:spPr>
          <a:xfrm>
            <a:off x="822960" y="2514600"/>
            <a:ext cx="3017520" cy="914400"/>
          </a:xfrm>
          <a:prstGeom prst="rect">
            <a:avLst/>
          </a:prstGeom>
          <a:noFill/>
          <a:ln/>
        </p:spPr>
        <p:txBody>
          <a:bodyPr wrap="square" lIns="0" tIns="0" rIns="0" bIns="0" rtlCol="0" anchor="t"/>
          <a:lstStyle/>
          <a:p>
            <a:pPr indent="0" marL="0">
              <a:buNone/>
            </a:pPr>
            <a:r>
              <a:rPr lang="en-US" sz="1600" dirty="0">
                <a:solidFill>
                  <a:schemeClr val="tx1"/>
                </a:solidFill>
              </a:rPr>
              <a:t>Develop a simple student record management application</a:t>
            </a:r>
            <a:endParaRPr lang="en-US" sz="1600" dirty="0"/>
          </a:p>
        </p:txBody>
      </p:sp>
      <p:sp>
        <p:nvSpPr>
          <p:cNvPr id="7" name="Objective card 2"/>
          <p:cNvSpPr/>
          <p:nvPr/>
        </p:nvSpPr>
        <p:spPr>
          <a:xfrm>
            <a:off x="4297680" y="1463040"/>
            <a:ext cx="3566160" cy="2148840"/>
          </a:xfrm>
          <a:prstGeom prst="roundRect">
            <a:avLst>
              <a:gd name="adj" fmla="val 5106"/>
            </a:avLst>
          </a:prstGeom>
          <a:solidFill>
            <a:schemeClr val="bg2"/>
          </a:solidFill>
          <a:ln/>
        </p:spPr>
      </p:sp>
      <p:sp>
        <p:nvSpPr>
          <p:cNvPr id="8" name="Objective number circle 2"/>
          <p:cNvSpPr/>
          <p:nvPr/>
        </p:nvSpPr>
        <p:spPr>
          <a:xfrm>
            <a:off x="4572000" y="1737360"/>
            <a:ext cx="640080" cy="640080"/>
          </a:xfrm>
          <a:prstGeom prst="ellipse">
            <a:avLst/>
          </a:prstGeom>
          <a:solidFill>
            <a:schemeClr val="accent1"/>
          </a:solidFill>
          <a:ln/>
        </p:spPr>
      </p:sp>
      <p:sp>
        <p:nvSpPr>
          <p:cNvPr id="9" name="Objective number 2"/>
          <p:cNvSpPr txBox="1"/>
          <p:nvPr/>
        </p:nvSpPr>
        <p:spPr>
          <a:xfrm>
            <a:off x="4572000" y="17373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Objective text 2"/>
          <p:cNvSpPr txBox="1"/>
          <p:nvPr/>
        </p:nvSpPr>
        <p:spPr>
          <a:xfrm>
            <a:off x="4572000" y="2514600"/>
            <a:ext cx="3017520" cy="914400"/>
          </a:xfrm>
          <a:prstGeom prst="rect">
            <a:avLst/>
          </a:prstGeom>
          <a:noFill/>
          <a:ln/>
        </p:spPr>
        <p:txBody>
          <a:bodyPr wrap="square" lIns="0" tIns="0" rIns="0" bIns="0" rtlCol="0" anchor="t"/>
          <a:lstStyle/>
          <a:p>
            <a:pPr indent="0" marL="0">
              <a:buNone/>
            </a:pPr>
            <a:r>
              <a:rPr lang="en-US" sz="1600" dirty="0">
                <a:solidFill>
                  <a:schemeClr val="tx1"/>
                </a:solidFill>
              </a:rPr>
              <a:t>Provide options to add, display, search, update and delete records</a:t>
            </a:r>
            <a:endParaRPr lang="en-US" sz="1600" dirty="0"/>
          </a:p>
        </p:txBody>
      </p:sp>
      <p:sp>
        <p:nvSpPr>
          <p:cNvPr id="11" name="Objective card 3"/>
          <p:cNvSpPr/>
          <p:nvPr/>
        </p:nvSpPr>
        <p:spPr>
          <a:xfrm>
            <a:off x="8046720" y="1463040"/>
            <a:ext cx="3566160" cy="2148840"/>
          </a:xfrm>
          <a:prstGeom prst="roundRect">
            <a:avLst>
              <a:gd name="adj" fmla="val 5106"/>
            </a:avLst>
          </a:prstGeom>
          <a:solidFill>
            <a:schemeClr val="bg2"/>
          </a:solidFill>
          <a:ln/>
        </p:spPr>
      </p:sp>
      <p:sp>
        <p:nvSpPr>
          <p:cNvPr id="12" name="Objective number circle 3"/>
          <p:cNvSpPr/>
          <p:nvPr/>
        </p:nvSpPr>
        <p:spPr>
          <a:xfrm>
            <a:off x="8321040" y="1737360"/>
            <a:ext cx="640080" cy="640080"/>
          </a:xfrm>
          <a:prstGeom prst="ellipse">
            <a:avLst/>
          </a:prstGeom>
          <a:solidFill>
            <a:schemeClr val="accent1"/>
          </a:solidFill>
          <a:ln/>
        </p:spPr>
      </p:sp>
      <p:sp>
        <p:nvSpPr>
          <p:cNvPr id="13" name="Objective number 3"/>
          <p:cNvSpPr txBox="1"/>
          <p:nvPr/>
        </p:nvSpPr>
        <p:spPr>
          <a:xfrm>
            <a:off x="8321040" y="17373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4" name="Objective text 3"/>
          <p:cNvSpPr txBox="1"/>
          <p:nvPr/>
        </p:nvSpPr>
        <p:spPr>
          <a:xfrm>
            <a:off x="8321040" y="2514600"/>
            <a:ext cx="3017520" cy="914400"/>
          </a:xfrm>
          <a:prstGeom prst="rect">
            <a:avLst/>
          </a:prstGeom>
          <a:noFill/>
          <a:ln/>
        </p:spPr>
        <p:txBody>
          <a:bodyPr wrap="square" lIns="0" tIns="0" rIns="0" bIns="0" rtlCol="0" anchor="t"/>
          <a:lstStyle/>
          <a:p>
            <a:pPr indent="0" marL="0">
              <a:buNone/>
            </a:pPr>
            <a:r>
              <a:rPr lang="en-US" sz="1600" dirty="0">
                <a:solidFill>
                  <a:schemeClr val="tx1"/>
                </a:solidFill>
              </a:rPr>
              <a:t>Store student information permanently using JSON file handling</a:t>
            </a:r>
            <a:endParaRPr lang="en-US" sz="1600" dirty="0"/>
          </a:p>
        </p:txBody>
      </p:sp>
      <p:sp>
        <p:nvSpPr>
          <p:cNvPr id="15" name="Objective card 4"/>
          <p:cNvSpPr/>
          <p:nvPr/>
        </p:nvSpPr>
        <p:spPr>
          <a:xfrm>
            <a:off x="548640" y="3840480"/>
            <a:ext cx="3566160" cy="2148840"/>
          </a:xfrm>
          <a:prstGeom prst="roundRect">
            <a:avLst>
              <a:gd name="adj" fmla="val 5106"/>
            </a:avLst>
          </a:prstGeom>
          <a:solidFill>
            <a:schemeClr val="bg2"/>
          </a:solidFill>
          <a:ln/>
        </p:spPr>
      </p:sp>
      <p:sp>
        <p:nvSpPr>
          <p:cNvPr id="16" name="Objective number circle 4"/>
          <p:cNvSpPr/>
          <p:nvPr/>
        </p:nvSpPr>
        <p:spPr>
          <a:xfrm>
            <a:off x="822960" y="4114800"/>
            <a:ext cx="640080" cy="640080"/>
          </a:xfrm>
          <a:prstGeom prst="ellipse">
            <a:avLst/>
          </a:prstGeom>
          <a:solidFill>
            <a:schemeClr val="accent1"/>
          </a:solidFill>
          <a:ln/>
        </p:spPr>
      </p:sp>
      <p:sp>
        <p:nvSpPr>
          <p:cNvPr id="17" name="Objective number 4"/>
          <p:cNvSpPr txBox="1"/>
          <p:nvPr/>
        </p:nvSpPr>
        <p:spPr>
          <a:xfrm>
            <a:off x="822960" y="41148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8" name="Objective text 4"/>
          <p:cNvSpPr txBox="1"/>
          <p:nvPr/>
        </p:nvSpPr>
        <p:spPr>
          <a:xfrm>
            <a:off x="822960" y="4892040"/>
            <a:ext cx="3017520" cy="914400"/>
          </a:xfrm>
          <a:prstGeom prst="rect">
            <a:avLst/>
          </a:prstGeom>
          <a:noFill/>
          <a:ln/>
        </p:spPr>
        <p:txBody>
          <a:bodyPr wrap="square" lIns="0" tIns="0" rIns="0" bIns="0" rtlCol="0" anchor="t"/>
          <a:lstStyle/>
          <a:p>
            <a:pPr indent="0" marL="0">
              <a:buNone/>
            </a:pPr>
            <a:r>
              <a:rPr lang="en-US" sz="1600" dirty="0">
                <a:solidFill>
                  <a:schemeClr val="tx1"/>
                </a:solidFill>
              </a:rPr>
              <a:t>Validate user inputs and handle common errors</a:t>
            </a:r>
            <a:endParaRPr lang="en-US" sz="1600" dirty="0"/>
          </a:p>
        </p:txBody>
      </p:sp>
      <p:sp>
        <p:nvSpPr>
          <p:cNvPr id="19" name="Objective card 5"/>
          <p:cNvSpPr/>
          <p:nvPr/>
        </p:nvSpPr>
        <p:spPr>
          <a:xfrm>
            <a:off x="4297680" y="3840480"/>
            <a:ext cx="3566160" cy="2148840"/>
          </a:xfrm>
          <a:prstGeom prst="roundRect">
            <a:avLst>
              <a:gd name="adj" fmla="val 5106"/>
            </a:avLst>
          </a:prstGeom>
          <a:solidFill>
            <a:schemeClr val="bg2"/>
          </a:solidFill>
          <a:ln/>
        </p:spPr>
      </p:sp>
      <p:sp>
        <p:nvSpPr>
          <p:cNvPr id="20" name="Objective number circle 5"/>
          <p:cNvSpPr/>
          <p:nvPr/>
        </p:nvSpPr>
        <p:spPr>
          <a:xfrm>
            <a:off x="4572000" y="4114800"/>
            <a:ext cx="640080" cy="640080"/>
          </a:xfrm>
          <a:prstGeom prst="ellipse">
            <a:avLst/>
          </a:prstGeom>
          <a:solidFill>
            <a:schemeClr val="accent1"/>
          </a:solidFill>
          <a:ln/>
        </p:spPr>
      </p:sp>
      <p:sp>
        <p:nvSpPr>
          <p:cNvPr id="21" name="Objective number 5"/>
          <p:cNvSpPr txBox="1"/>
          <p:nvPr/>
        </p:nvSpPr>
        <p:spPr>
          <a:xfrm>
            <a:off x="4572000" y="41148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2" name="Objective text 5"/>
          <p:cNvSpPr txBox="1"/>
          <p:nvPr/>
        </p:nvSpPr>
        <p:spPr>
          <a:xfrm>
            <a:off x="4572000" y="4892040"/>
            <a:ext cx="3017520" cy="914400"/>
          </a:xfrm>
          <a:prstGeom prst="rect">
            <a:avLst/>
          </a:prstGeom>
          <a:noFill/>
          <a:ln/>
        </p:spPr>
        <p:txBody>
          <a:bodyPr wrap="square" lIns="0" tIns="0" rIns="0" bIns="0" rtlCol="0" anchor="t"/>
          <a:lstStyle/>
          <a:p>
            <a:pPr indent="0" marL="0">
              <a:buNone/>
            </a:pPr>
            <a:r>
              <a:rPr lang="en-US" sz="1600" dirty="0">
                <a:solidFill>
                  <a:schemeClr val="tx1"/>
                </a:solidFill>
              </a:rPr>
              <a:t>Apply Python fundamentals and Object-Oriented Programming</a:t>
            </a:r>
            <a:endParaRPr lang="en-US" sz="1600" dirty="0"/>
          </a:p>
        </p:txBody>
      </p:sp>
      <p:sp>
        <p:nvSpPr>
          <p:cNvPr id="23" name="Objective card 6"/>
          <p:cNvSpPr/>
          <p:nvPr/>
        </p:nvSpPr>
        <p:spPr>
          <a:xfrm>
            <a:off x="8046720" y="3840480"/>
            <a:ext cx="3566160" cy="2148840"/>
          </a:xfrm>
          <a:prstGeom prst="roundRect">
            <a:avLst>
              <a:gd name="adj" fmla="val 5106"/>
            </a:avLst>
          </a:prstGeom>
          <a:solidFill>
            <a:schemeClr val="bg2"/>
          </a:solidFill>
          <a:ln/>
        </p:spPr>
      </p:sp>
      <p:sp>
        <p:nvSpPr>
          <p:cNvPr id="24" name="Objective number circle 6"/>
          <p:cNvSpPr/>
          <p:nvPr/>
        </p:nvSpPr>
        <p:spPr>
          <a:xfrm>
            <a:off x="8321040" y="4114800"/>
            <a:ext cx="640080" cy="640080"/>
          </a:xfrm>
          <a:prstGeom prst="ellipse">
            <a:avLst/>
          </a:prstGeom>
          <a:solidFill>
            <a:schemeClr val="accent1"/>
          </a:solidFill>
          <a:ln/>
        </p:spPr>
      </p:sp>
      <p:sp>
        <p:nvSpPr>
          <p:cNvPr id="25" name="Objective number 6"/>
          <p:cNvSpPr txBox="1"/>
          <p:nvPr/>
        </p:nvSpPr>
        <p:spPr>
          <a:xfrm>
            <a:off x="8321040" y="41148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6</a:t>
            </a:r>
            <a:endParaRPr lang="en-US" sz="2200" dirty="0"/>
          </a:p>
        </p:txBody>
      </p:sp>
      <p:sp>
        <p:nvSpPr>
          <p:cNvPr id="26" name="Objective text 6"/>
          <p:cNvSpPr txBox="1"/>
          <p:nvPr/>
        </p:nvSpPr>
        <p:spPr>
          <a:xfrm>
            <a:off x="8321040" y="4892040"/>
            <a:ext cx="3017520" cy="914400"/>
          </a:xfrm>
          <a:prstGeom prst="rect">
            <a:avLst/>
          </a:prstGeom>
          <a:noFill/>
          <a:ln/>
        </p:spPr>
        <p:txBody>
          <a:bodyPr wrap="square" lIns="0" tIns="0" rIns="0" bIns="0" rtlCol="0" anchor="t"/>
          <a:lstStyle/>
          <a:p>
            <a:pPr indent="0" marL="0">
              <a:buNone/>
            </a:pPr>
            <a:r>
              <a:rPr lang="en-US" sz="1600" dirty="0">
                <a:solidFill>
                  <a:schemeClr val="tx1"/>
                </a:solidFill>
              </a:rPr>
              <a:t>Build problem-solving skills and maintain the project on GitHub</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Key Features</a:t>
            </a:r>
            <a:endParaRPr lang="en-US" sz="3400" dirty="0"/>
          </a:p>
        </p:txBody>
      </p:sp>
      <p:sp>
        <p:nvSpPr>
          <p:cNvPr id="3" name="Feature card 1"/>
          <p:cNvSpPr/>
          <p:nvPr/>
        </p:nvSpPr>
        <p:spPr>
          <a:xfrm>
            <a:off x="548640" y="1463040"/>
            <a:ext cx="2286000" cy="2148840"/>
          </a:xfrm>
          <a:prstGeom prst="roundRect">
            <a:avLst>
              <a:gd name="adj" fmla="val 5106"/>
            </a:avLst>
          </a:prstGeom>
          <a:solidFill>
            <a:schemeClr val="bg2"/>
          </a:solidFill>
          <a:ln/>
        </p:spPr>
      </p:sp>
      <p:sp>
        <p:nvSpPr>
          <p:cNvPr id="4" name="Feature 1 circle"/>
          <p:cNvSpPr/>
          <p:nvPr/>
        </p:nvSpPr>
        <p:spPr>
          <a:xfrm>
            <a:off x="777240" y="1691640"/>
            <a:ext cx="640080" cy="640080"/>
          </a:xfrm>
          <a:prstGeom prst="ellipse">
            <a:avLst/>
          </a:prstGeom>
          <a:solidFill>
            <a:schemeClr val="accent1"/>
          </a:solidFill>
          <a:ln/>
        </p:spPr>
      </p:sp>
      <p:pic>
        <p:nvPicPr>
          <p:cNvPr id="5" name="Image 0" descr="Feature 1 icon">    </p:cNvPr>
          <p:cNvPicPr>
            <a:picLocks noChangeAspect="1"/>
          </p:cNvPicPr>
          <p:nvPr/>
        </p:nvPicPr>
        <p:blipFill>
          <a:blip r:embed="rId1"/>
          <a:stretch>
            <a:fillRect/>
          </a:stretch>
        </p:blipFill>
        <p:spPr>
          <a:xfrm>
            <a:off x="930859" y="1845259"/>
            <a:ext cx="332842" cy="332842"/>
          </a:xfrm>
          <a:prstGeom prst="rect">
            <a:avLst/>
          </a:prstGeom>
        </p:spPr>
      </p:pic>
      <p:sp>
        <p:nvSpPr>
          <p:cNvPr id="6" name="Feature name 1"/>
          <p:cNvSpPr txBox="1"/>
          <p:nvPr/>
        </p:nvSpPr>
        <p:spPr>
          <a:xfrm>
            <a:off x="777240" y="2468880"/>
            <a:ext cx="1920240" cy="365760"/>
          </a:xfrm>
          <a:prstGeom prst="rect">
            <a:avLst/>
          </a:prstGeom>
          <a:noFill/>
          <a:ln/>
        </p:spPr>
        <p:txBody>
          <a:bodyPr wrap="square" lIns="0" tIns="0" rIns="0" bIns="0" rtlCol="0" anchor="t"/>
          <a:lstStyle/>
          <a:p>
            <a:pPr indent="0" marL="0">
              <a:buNone/>
            </a:pPr>
            <a:r>
              <a:rPr lang="en-US" sz="1600" b="1" dirty="0">
                <a:solidFill>
                  <a:schemeClr val="tx2"/>
                </a:solidFill>
              </a:rPr>
              <a:t>1  Add Student</a:t>
            </a:r>
            <a:endParaRPr lang="en-US" sz="1600" dirty="0"/>
          </a:p>
        </p:txBody>
      </p:sp>
      <p:sp>
        <p:nvSpPr>
          <p:cNvPr id="7" name="Feature desc 1"/>
          <p:cNvSpPr txBox="1"/>
          <p:nvPr/>
        </p:nvSpPr>
        <p:spPr>
          <a:xfrm>
            <a:off x="777240" y="2880360"/>
            <a:ext cx="1920240" cy="594360"/>
          </a:xfrm>
          <a:prstGeom prst="rect">
            <a:avLst/>
          </a:prstGeom>
          <a:noFill/>
          <a:ln/>
        </p:spPr>
        <p:txBody>
          <a:bodyPr wrap="square" lIns="0" tIns="0" rIns="0" bIns="0" rtlCol="0" anchor="t"/>
          <a:lstStyle/>
          <a:p>
            <a:pPr indent="0" marL="0">
              <a:buNone/>
            </a:pPr>
            <a:r>
              <a:rPr lang="en-US" sz="1400" dirty="0">
                <a:solidFill>
                  <a:schemeClr val="tx1"/>
                </a:solidFill>
              </a:rPr>
              <a:t>Enter name, age and marks</a:t>
            </a:r>
            <a:endParaRPr lang="en-US" sz="1400" dirty="0"/>
          </a:p>
        </p:txBody>
      </p:sp>
      <p:sp>
        <p:nvSpPr>
          <p:cNvPr id="8" name="Feature card 2"/>
          <p:cNvSpPr/>
          <p:nvPr/>
        </p:nvSpPr>
        <p:spPr>
          <a:xfrm>
            <a:off x="3017520" y="1463040"/>
            <a:ext cx="2286000" cy="2148840"/>
          </a:xfrm>
          <a:prstGeom prst="roundRect">
            <a:avLst>
              <a:gd name="adj" fmla="val 5106"/>
            </a:avLst>
          </a:prstGeom>
          <a:solidFill>
            <a:schemeClr val="bg2"/>
          </a:solidFill>
          <a:ln/>
        </p:spPr>
      </p:sp>
      <p:sp>
        <p:nvSpPr>
          <p:cNvPr id="9" name="Feature 2 circle"/>
          <p:cNvSpPr/>
          <p:nvPr/>
        </p:nvSpPr>
        <p:spPr>
          <a:xfrm>
            <a:off x="3246120" y="1691640"/>
            <a:ext cx="640080" cy="640080"/>
          </a:xfrm>
          <a:prstGeom prst="ellipse">
            <a:avLst/>
          </a:prstGeom>
          <a:solidFill>
            <a:schemeClr val="accent1"/>
          </a:solidFill>
          <a:ln/>
        </p:spPr>
      </p:sp>
      <p:pic>
        <p:nvPicPr>
          <p:cNvPr id="10" name="Image 1" descr="Feature 2 icon">    </p:cNvPr>
          <p:cNvPicPr>
            <a:picLocks noChangeAspect="1"/>
          </p:cNvPicPr>
          <p:nvPr/>
        </p:nvPicPr>
        <p:blipFill>
          <a:blip r:embed="rId2"/>
          <a:stretch>
            <a:fillRect/>
          </a:stretch>
        </p:blipFill>
        <p:spPr>
          <a:xfrm>
            <a:off x="3399739" y="1845259"/>
            <a:ext cx="332842" cy="332842"/>
          </a:xfrm>
          <a:prstGeom prst="rect">
            <a:avLst/>
          </a:prstGeom>
        </p:spPr>
      </p:pic>
      <p:sp>
        <p:nvSpPr>
          <p:cNvPr id="11" name="Feature name 2"/>
          <p:cNvSpPr txBox="1"/>
          <p:nvPr/>
        </p:nvSpPr>
        <p:spPr>
          <a:xfrm>
            <a:off x="3246120" y="2468880"/>
            <a:ext cx="1920240" cy="365760"/>
          </a:xfrm>
          <a:prstGeom prst="rect">
            <a:avLst/>
          </a:prstGeom>
          <a:noFill/>
          <a:ln/>
        </p:spPr>
        <p:txBody>
          <a:bodyPr wrap="square" lIns="0" tIns="0" rIns="0" bIns="0" rtlCol="0" anchor="t"/>
          <a:lstStyle/>
          <a:p>
            <a:pPr indent="0" marL="0">
              <a:buNone/>
            </a:pPr>
            <a:r>
              <a:rPr lang="en-US" sz="1600" b="1" dirty="0">
                <a:solidFill>
                  <a:schemeClr val="tx2"/>
                </a:solidFill>
              </a:rPr>
              <a:t>2  Display All</a:t>
            </a:r>
            <a:endParaRPr lang="en-US" sz="1600" dirty="0"/>
          </a:p>
        </p:txBody>
      </p:sp>
      <p:sp>
        <p:nvSpPr>
          <p:cNvPr id="12" name="Feature desc 2"/>
          <p:cNvSpPr txBox="1"/>
          <p:nvPr/>
        </p:nvSpPr>
        <p:spPr>
          <a:xfrm>
            <a:off x="3246120" y="2880360"/>
            <a:ext cx="1920240" cy="594360"/>
          </a:xfrm>
          <a:prstGeom prst="rect">
            <a:avLst/>
          </a:prstGeom>
          <a:noFill/>
          <a:ln/>
        </p:spPr>
        <p:txBody>
          <a:bodyPr wrap="square" lIns="0" tIns="0" rIns="0" bIns="0" rtlCol="0" anchor="t"/>
          <a:lstStyle/>
          <a:p>
            <a:pPr indent="0" marL="0">
              <a:buNone/>
            </a:pPr>
            <a:r>
              <a:rPr lang="en-US" sz="1400" dirty="0">
                <a:solidFill>
                  <a:schemeClr val="tx1"/>
                </a:solidFill>
              </a:rPr>
              <a:t>View every saved record</a:t>
            </a:r>
            <a:endParaRPr lang="en-US" sz="1400" dirty="0"/>
          </a:p>
        </p:txBody>
      </p:sp>
      <p:sp>
        <p:nvSpPr>
          <p:cNvPr id="13" name="Feature card 3"/>
          <p:cNvSpPr/>
          <p:nvPr/>
        </p:nvSpPr>
        <p:spPr>
          <a:xfrm>
            <a:off x="5486400" y="1463040"/>
            <a:ext cx="2286000" cy="2148840"/>
          </a:xfrm>
          <a:prstGeom prst="roundRect">
            <a:avLst>
              <a:gd name="adj" fmla="val 5106"/>
            </a:avLst>
          </a:prstGeom>
          <a:solidFill>
            <a:schemeClr val="bg2"/>
          </a:solidFill>
          <a:ln/>
        </p:spPr>
      </p:sp>
      <p:sp>
        <p:nvSpPr>
          <p:cNvPr id="14" name="Feature 3 circle"/>
          <p:cNvSpPr/>
          <p:nvPr/>
        </p:nvSpPr>
        <p:spPr>
          <a:xfrm>
            <a:off x="5715000" y="1691640"/>
            <a:ext cx="640080" cy="640080"/>
          </a:xfrm>
          <a:prstGeom prst="ellipse">
            <a:avLst/>
          </a:prstGeom>
          <a:solidFill>
            <a:schemeClr val="accent1"/>
          </a:solidFill>
          <a:ln/>
        </p:spPr>
      </p:sp>
      <p:pic>
        <p:nvPicPr>
          <p:cNvPr id="15" name="Image 2" descr="Feature 3 icon">    </p:cNvPr>
          <p:cNvPicPr>
            <a:picLocks noChangeAspect="1"/>
          </p:cNvPicPr>
          <p:nvPr/>
        </p:nvPicPr>
        <p:blipFill>
          <a:blip r:embed="rId3"/>
          <a:stretch>
            <a:fillRect/>
          </a:stretch>
        </p:blipFill>
        <p:spPr>
          <a:xfrm>
            <a:off x="5868619" y="1845259"/>
            <a:ext cx="332842" cy="332842"/>
          </a:xfrm>
          <a:prstGeom prst="rect">
            <a:avLst/>
          </a:prstGeom>
        </p:spPr>
      </p:pic>
      <p:sp>
        <p:nvSpPr>
          <p:cNvPr id="16" name="Feature name 3"/>
          <p:cNvSpPr txBox="1"/>
          <p:nvPr/>
        </p:nvSpPr>
        <p:spPr>
          <a:xfrm>
            <a:off x="5715000" y="2468880"/>
            <a:ext cx="1920240" cy="365760"/>
          </a:xfrm>
          <a:prstGeom prst="rect">
            <a:avLst/>
          </a:prstGeom>
          <a:noFill/>
          <a:ln/>
        </p:spPr>
        <p:txBody>
          <a:bodyPr wrap="square" lIns="0" tIns="0" rIns="0" bIns="0" rtlCol="0" anchor="t"/>
          <a:lstStyle/>
          <a:p>
            <a:pPr indent="0" marL="0">
              <a:buNone/>
            </a:pPr>
            <a:r>
              <a:rPr lang="en-US" sz="1600" b="1" dirty="0">
                <a:solidFill>
                  <a:schemeClr val="tx2"/>
                </a:solidFill>
              </a:rPr>
              <a:t>3  Search Student</a:t>
            </a:r>
            <a:endParaRPr lang="en-US" sz="1600" dirty="0"/>
          </a:p>
        </p:txBody>
      </p:sp>
      <p:sp>
        <p:nvSpPr>
          <p:cNvPr id="17" name="Feature desc 3"/>
          <p:cNvSpPr txBox="1"/>
          <p:nvPr/>
        </p:nvSpPr>
        <p:spPr>
          <a:xfrm>
            <a:off x="5715000" y="2880360"/>
            <a:ext cx="1920240" cy="594360"/>
          </a:xfrm>
          <a:prstGeom prst="rect">
            <a:avLst/>
          </a:prstGeom>
          <a:noFill/>
          <a:ln/>
        </p:spPr>
        <p:txBody>
          <a:bodyPr wrap="square" lIns="0" tIns="0" rIns="0" bIns="0" rtlCol="0" anchor="t"/>
          <a:lstStyle/>
          <a:p>
            <a:pPr indent="0" marL="0">
              <a:buNone/>
            </a:pPr>
            <a:r>
              <a:rPr lang="en-US" sz="1400" dirty="0">
                <a:solidFill>
                  <a:schemeClr val="tx1"/>
                </a:solidFill>
              </a:rPr>
              <a:t>Find a student by name</a:t>
            </a:r>
            <a:endParaRPr lang="en-US" sz="1400" dirty="0"/>
          </a:p>
        </p:txBody>
      </p:sp>
      <p:sp>
        <p:nvSpPr>
          <p:cNvPr id="18" name="Feature card 4"/>
          <p:cNvSpPr/>
          <p:nvPr/>
        </p:nvSpPr>
        <p:spPr>
          <a:xfrm>
            <a:off x="548640" y="3840480"/>
            <a:ext cx="2286000" cy="2148840"/>
          </a:xfrm>
          <a:prstGeom prst="roundRect">
            <a:avLst>
              <a:gd name="adj" fmla="val 5106"/>
            </a:avLst>
          </a:prstGeom>
          <a:solidFill>
            <a:schemeClr val="bg2"/>
          </a:solidFill>
          <a:ln/>
        </p:spPr>
      </p:sp>
      <p:sp>
        <p:nvSpPr>
          <p:cNvPr id="19" name="Feature 4 circle"/>
          <p:cNvSpPr/>
          <p:nvPr/>
        </p:nvSpPr>
        <p:spPr>
          <a:xfrm>
            <a:off x="777240" y="4069080"/>
            <a:ext cx="640080" cy="640080"/>
          </a:xfrm>
          <a:prstGeom prst="ellipse">
            <a:avLst/>
          </a:prstGeom>
          <a:solidFill>
            <a:schemeClr val="accent1"/>
          </a:solidFill>
          <a:ln/>
        </p:spPr>
      </p:sp>
      <p:pic>
        <p:nvPicPr>
          <p:cNvPr id="20" name="Image 3" descr="Feature 4 icon">    </p:cNvPr>
          <p:cNvPicPr>
            <a:picLocks noChangeAspect="1"/>
          </p:cNvPicPr>
          <p:nvPr/>
        </p:nvPicPr>
        <p:blipFill>
          <a:blip r:embed="rId4"/>
          <a:stretch>
            <a:fillRect/>
          </a:stretch>
        </p:blipFill>
        <p:spPr>
          <a:xfrm>
            <a:off x="930859" y="4222699"/>
            <a:ext cx="332842" cy="332842"/>
          </a:xfrm>
          <a:prstGeom prst="rect">
            <a:avLst/>
          </a:prstGeom>
        </p:spPr>
      </p:pic>
      <p:sp>
        <p:nvSpPr>
          <p:cNvPr id="21" name="Feature name 4"/>
          <p:cNvSpPr txBox="1"/>
          <p:nvPr/>
        </p:nvSpPr>
        <p:spPr>
          <a:xfrm>
            <a:off x="777240" y="4846320"/>
            <a:ext cx="1920240" cy="365760"/>
          </a:xfrm>
          <a:prstGeom prst="rect">
            <a:avLst/>
          </a:prstGeom>
          <a:noFill/>
          <a:ln/>
        </p:spPr>
        <p:txBody>
          <a:bodyPr wrap="square" lIns="0" tIns="0" rIns="0" bIns="0" rtlCol="0" anchor="t"/>
          <a:lstStyle/>
          <a:p>
            <a:pPr indent="0" marL="0">
              <a:buNone/>
            </a:pPr>
            <a:r>
              <a:rPr lang="en-US" sz="1600" b="1" dirty="0">
                <a:solidFill>
                  <a:schemeClr val="tx2"/>
                </a:solidFill>
              </a:rPr>
              <a:t>4  Update Marks</a:t>
            </a:r>
            <a:endParaRPr lang="en-US" sz="1600" dirty="0"/>
          </a:p>
        </p:txBody>
      </p:sp>
      <p:sp>
        <p:nvSpPr>
          <p:cNvPr id="22" name="Feature desc 4"/>
          <p:cNvSpPr txBox="1"/>
          <p:nvPr/>
        </p:nvSpPr>
        <p:spPr>
          <a:xfrm>
            <a:off x="777240" y="5257800"/>
            <a:ext cx="1920240" cy="594360"/>
          </a:xfrm>
          <a:prstGeom prst="rect">
            <a:avLst/>
          </a:prstGeom>
          <a:noFill/>
          <a:ln/>
        </p:spPr>
        <p:txBody>
          <a:bodyPr wrap="square" lIns="0" tIns="0" rIns="0" bIns="0" rtlCol="0" anchor="t"/>
          <a:lstStyle/>
          <a:p>
            <a:pPr indent="0" marL="0">
              <a:buNone/>
            </a:pPr>
            <a:r>
              <a:rPr lang="en-US" sz="1400" dirty="0">
                <a:solidFill>
                  <a:schemeClr val="tx1"/>
                </a:solidFill>
              </a:rPr>
              <a:t>Change an existing student's marks</a:t>
            </a:r>
            <a:endParaRPr lang="en-US" sz="1400" dirty="0"/>
          </a:p>
        </p:txBody>
      </p:sp>
      <p:sp>
        <p:nvSpPr>
          <p:cNvPr id="23" name="Feature card 5"/>
          <p:cNvSpPr/>
          <p:nvPr/>
        </p:nvSpPr>
        <p:spPr>
          <a:xfrm>
            <a:off x="3017520" y="3840480"/>
            <a:ext cx="2286000" cy="2148840"/>
          </a:xfrm>
          <a:prstGeom prst="roundRect">
            <a:avLst>
              <a:gd name="adj" fmla="val 5106"/>
            </a:avLst>
          </a:prstGeom>
          <a:solidFill>
            <a:schemeClr val="bg2"/>
          </a:solidFill>
          <a:ln/>
        </p:spPr>
      </p:sp>
      <p:sp>
        <p:nvSpPr>
          <p:cNvPr id="24" name="Feature 5 circle"/>
          <p:cNvSpPr/>
          <p:nvPr/>
        </p:nvSpPr>
        <p:spPr>
          <a:xfrm>
            <a:off x="3246120" y="4069080"/>
            <a:ext cx="640080" cy="640080"/>
          </a:xfrm>
          <a:prstGeom prst="ellipse">
            <a:avLst/>
          </a:prstGeom>
          <a:solidFill>
            <a:schemeClr val="accent1"/>
          </a:solidFill>
          <a:ln/>
        </p:spPr>
      </p:sp>
      <p:pic>
        <p:nvPicPr>
          <p:cNvPr id="25" name="Image 4" descr="Feature 5 icon">    </p:cNvPr>
          <p:cNvPicPr>
            <a:picLocks noChangeAspect="1"/>
          </p:cNvPicPr>
          <p:nvPr/>
        </p:nvPicPr>
        <p:blipFill>
          <a:blip r:embed="rId5"/>
          <a:stretch>
            <a:fillRect/>
          </a:stretch>
        </p:blipFill>
        <p:spPr>
          <a:xfrm>
            <a:off x="3399739" y="4222699"/>
            <a:ext cx="332842" cy="332842"/>
          </a:xfrm>
          <a:prstGeom prst="rect">
            <a:avLst/>
          </a:prstGeom>
        </p:spPr>
      </p:pic>
      <p:sp>
        <p:nvSpPr>
          <p:cNvPr id="26" name="Feature name 5"/>
          <p:cNvSpPr txBox="1"/>
          <p:nvPr/>
        </p:nvSpPr>
        <p:spPr>
          <a:xfrm>
            <a:off x="3246120" y="4846320"/>
            <a:ext cx="1920240" cy="365760"/>
          </a:xfrm>
          <a:prstGeom prst="rect">
            <a:avLst/>
          </a:prstGeom>
          <a:noFill/>
          <a:ln/>
        </p:spPr>
        <p:txBody>
          <a:bodyPr wrap="square" lIns="0" tIns="0" rIns="0" bIns="0" rtlCol="0" anchor="t"/>
          <a:lstStyle/>
          <a:p>
            <a:pPr indent="0" marL="0">
              <a:buNone/>
            </a:pPr>
            <a:r>
              <a:rPr lang="en-US" sz="1600" b="1" dirty="0">
                <a:solidFill>
                  <a:schemeClr val="tx2"/>
                </a:solidFill>
              </a:rPr>
              <a:t>5  Delete Student</a:t>
            </a:r>
            <a:endParaRPr lang="en-US" sz="1600" dirty="0"/>
          </a:p>
        </p:txBody>
      </p:sp>
      <p:sp>
        <p:nvSpPr>
          <p:cNvPr id="27" name="Feature desc 5"/>
          <p:cNvSpPr txBox="1"/>
          <p:nvPr/>
        </p:nvSpPr>
        <p:spPr>
          <a:xfrm>
            <a:off x="3246120" y="5257800"/>
            <a:ext cx="1920240" cy="594360"/>
          </a:xfrm>
          <a:prstGeom prst="rect">
            <a:avLst/>
          </a:prstGeom>
          <a:noFill/>
          <a:ln/>
        </p:spPr>
        <p:txBody>
          <a:bodyPr wrap="square" lIns="0" tIns="0" rIns="0" bIns="0" rtlCol="0" anchor="t"/>
          <a:lstStyle/>
          <a:p>
            <a:pPr indent="0" marL="0">
              <a:buNone/>
            </a:pPr>
            <a:r>
              <a:rPr lang="en-US" sz="1400" dirty="0">
                <a:solidFill>
                  <a:schemeClr val="tx1"/>
                </a:solidFill>
              </a:rPr>
              <a:t>Remove a student's record</a:t>
            </a:r>
            <a:endParaRPr lang="en-US" sz="1400" dirty="0"/>
          </a:p>
        </p:txBody>
      </p:sp>
      <p:sp>
        <p:nvSpPr>
          <p:cNvPr id="28" name="Feature card 6"/>
          <p:cNvSpPr/>
          <p:nvPr/>
        </p:nvSpPr>
        <p:spPr>
          <a:xfrm>
            <a:off x="5486400" y="3840480"/>
            <a:ext cx="2286000" cy="2148840"/>
          </a:xfrm>
          <a:prstGeom prst="roundRect">
            <a:avLst>
              <a:gd name="adj" fmla="val 5106"/>
            </a:avLst>
          </a:prstGeom>
          <a:solidFill>
            <a:schemeClr val="bg2"/>
          </a:solidFill>
          <a:ln/>
        </p:spPr>
      </p:sp>
      <p:sp>
        <p:nvSpPr>
          <p:cNvPr id="29" name="Feature 6 circle"/>
          <p:cNvSpPr/>
          <p:nvPr/>
        </p:nvSpPr>
        <p:spPr>
          <a:xfrm>
            <a:off x="5715000" y="4069080"/>
            <a:ext cx="640080" cy="640080"/>
          </a:xfrm>
          <a:prstGeom prst="ellipse">
            <a:avLst/>
          </a:prstGeom>
          <a:solidFill>
            <a:schemeClr val="accent1"/>
          </a:solidFill>
          <a:ln/>
        </p:spPr>
      </p:sp>
      <p:pic>
        <p:nvPicPr>
          <p:cNvPr id="30" name="Image 5" descr="Feature 6 icon">    </p:cNvPr>
          <p:cNvPicPr>
            <a:picLocks noChangeAspect="1"/>
          </p:cNvPicPr>
          <p:nvPr/>
        </p:nvPicPr>
        <p:blipFill>
          <a:blip r:embed="rId6"/>
          <a:stretch>
            <a:fillRect/>
          </a:stretch>
        </p:blipFill>
        <p:spPr>
          <a:xfrm>
            <a:off x="5868619" y="4222699"/>
            <a:ext cx="332842" cy="332842"/>
          </a:xfrm>
          <a:prstGeom prst="rect">
            <a:avLst/>
          </a:prstGeom>
        </p:spPr>
      </p:pic>
      <p:sp>
        <p:nvSpPr>
          <p:cNvPr id="31" name="Feature name 6"/>
          <p:cNvSpPr txBox="1"/>
          <p:nvPr/>
        </p:nvSpPr>
        <p:spPr>
          <a:xfrm>
            <a:off x="5715000" y="4846320"/>
            <a:ext cx="1920240" cy="365760"/>
          </a:xfrm>
          <a:prstGeom prst="rect">
            <a:avLst/>
          </a:prstGeom>
          <a:noFill/>
          <a:ln/>
        </p:spPr>
        <p:txBody>
          <a:bodyPr wrap="square" lIns="0" tIns="0" rIns="0" bIns="0" rtlCol="0" anchor="t"/>
          <a:lstStyle/>
          <a:p>
            <a:pPr indent="0" marL="0">
              <a:buNone/>
            </a:pPr>
            <a:r>
              <a:rPr lang="en-US" sz="1600" b="1" dirty="0">
                <a:solidFill>
                  <a:schemeClr val="tx2"/>
                </a:solidFill>
              </a:rPr>
              <a:t>6  Exit</a:t>
            </a:r>
            <a:endParaRPr lang="en-US" sz="1600" dirty="0"/>
          </a:p>
        </p:txBody>
      </p:sp>
      <p:sp>
        <p:nvSpPr>
          <p:cNvPr id="32" name="Feature desc 6"/>
          <p:cNvSpPr txBox="1"/>
          <p:nvPr/>
        </p:nvSpPr>
        <p:spPr>
          <a:xfrm>
            <a:off x="5715000" y="5257800"/>
            <a:ext cx="1920240" cy="594360"/>
          </a:xfrm>
          <a:prstGeom prst="rect">
            <a:avLst/>
          </a:prstGeom>
          <a:noFill/>
          <a:ln/>
        </p:spPr>
        <p:txBody>
          <a:bodyPr wrap="square" lIns="0" tIns="0" rIns="0" bIns="0" rtlCol="0" anchor="t"/>
          <a:lstStyle/>
          <a:p>
            <a:pPr indent="0" marL="0">
              <a:buNone/>
            </a:pPr>
            <a:r>
              <a:rPr lang="en-US" sz="1400" dirty="0">
                <a:solidFill>
                  <a:schemeClr val="tx1"/>
                </a:solidFill>
              </a:rPr>
              <a:t>Close the program safely</a:t>
            </a:r>
            <a:endParaRPr lang="en-US" sz="1400" dirty="0"/>
          </a:p>
        </p:txBody>
      </p:sp>
      <p:sp>
        <p:nvSpPr>
          <p:cNvPr id="33" name="Behind the scenes card"/>
          <p:cNvSpPr/>
          <p:nvPr/>
        </p:nvSpPr>
        <p:spPr>
          <a:xfrm>
            <a:off x="8046720" y="1463040"/>
            <a:ext cx="3566160" cy="4526280"/>
          </a:xfrm>
          <a:prstGeom prst="roundRect">
            <a:avLst>
              <a:gd name="adj" fmla="val 4615"/>
            </a:avLst>
          </a:prstGeom>
          <a:solidFill>
            <a:schemeClr val="tx2"/>
          </a:solidFill>
          <a:ln/>
        </p:spPr>
      </p:sp>
      <p:sp>
        <p:nvSpPr>
          <p:cNvPr id="34" name="Behind heading"/>
          <p:cNvSpPr txBox="1"/>
          <p:nvPr/>
        </p:nvSpPr>
        <p:spPr>
          <a:xfrm>
            <a:off x="8366760" y="1737360"/>
            <a:ext cx="301752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Behind the scenes</a:t>
            </a:r>
            <a:endParaRPr lang="en-US" sz="2000" dirty="0"/>
          </a:p>
        </p:txBody>
      </p:sp>
      <p:sp>
        <p:nvSpPr>
          <p:cNvPr id="35" name="Behind 1 circle"/>
          <p:cNvSpPr/>
          <p:nvPr/>
        </p:nvSpPr>
        <p:spPr>
          <a:xfrm>
            <a:off x="8366760" y="2377440"/>
            <a:ext cx="548640" cy="548640"/>
          </a:xfrm>
          <a:prstGeom prst="ellipse">
            <a:avLst/>
          </a:prstGeom>
          <a:solidFill>
            <a:schemeClr val="accent1"/>
          </a:solidFill>
          <a:ln/>
        </p:spPr>
      </p:sp>
      <p:pic>
        <p:nvPicPr>
          <p:cNvPr id="36" name="Image 6" descr="Behind 1 icon">    </p:cNvPr>
          <p:cNvPicPr>
            <a:picLocks noChangeAspect="1"/>
          </p:cNvPicPr>
          <p:nvPr/>
        </p:nvPicPr>
        <p:blipFill>
          <a:blip r:embed="rId7"/>
          <a:stretch>
            <a:fillRect/>
          </a:stretch>
        </p:blipFill>
        <p:spPr>
          <a:xfrm>
            <a:off x="8498434" y="2509114"/>
            <a:ext cx="285293" cy="285293"/>
          </a:xfrm>
          <a:prstGeom prst="rect">
            <a:avLst/>
          </a:prstGeom>
        </p:spPr>
      </p:pic>
      <p:sp>
        <p:nvSpPr>
          <p:cNvPr id="37" name="Behind text 1"/>
          <p:cNvSpPr txBox="1"/>
          <p:nvPr/>
        </p:nvSpPr>
        <p:spPr>
          <a:xfrm>
            <a:off x="9098280" y="2359152"/>
            <a:ext cx="2331720" cy="640080"/>
          </a:xfrm>
          <a:prstGeom prst="rect">
            <a:avLst/>
          </a:prstGeom>
          <a:noFill/>
          <a:ln/>
        </p:spPr>
        <p:txBody>
          <a:bodyPr wrap="square" lIns="0" tIns="0" rIns="0" bIns="0" rtlCol="0" anchor="ctr"/>
          <a:lstStyle/>
          <a:p>
            <a:pPr indent="0" marL="0">
              <a:buNone/>
            </a:pPr>
            <a:r>
              <a:rPr lang="en-US" sz="1500" dirty="0">
                <a:solidFill>
                  <a:schemeClr val="bg1"/>
                </a:solidFill>
              </a:rPr>
              <a:t>Save records in a JSON file</a:t>
            </a:r>
            <a:endParaRPr lang="en-US" sz="1500" dirty="0"/>
          </a:p>
        </p:txBody>
      </p:sp>
      <p:sp>
        <p:nvSpPr>
          <p:cNvPr id="38" name="Behind 2 circle"/>
          <p:cNvSpPr/>
          <p:nvPr/>
        </p:nvSpPr>
        <p:spPr>
          <a:xfrm>
            <a:off x="8366760" y="3291840"/>
            <a:ext cx="548640" cy="548640"/>
          </a:xfrm>
          <a:prstGeom prst="ellipse">
            <a:avLst/>
          </a:prstGeom>
          <a:solidFill>
            <a:schemeClr val="accent1"/>
          </a:solidFill>
          <a:ln/>
        </p:spPr>
      </p:sp>
      <p:pic>
        <p:nvPicPr>
          <p:cNvPr id="39" name="Image 7" descr="Behind 2 icon">    </p:cNvPr>
          <p:cNvPicPr>
            <a:picLocks noChangeAspect="1"/>
          </p:cNvPicPr>
          <p:nvPr/>
        </p:nvPicPr>
        <p:blipFill>
          <a:blip r:embed="rId8"/>
          <a:stretch>
            <a:fillRect/>
          </a:stretch>
        </p:blipFill>
        <p:spPr>
          <a:xfrm>
            <a:off x="8498434" y="3423514"/>
            <a:ext cx="285293" cy="285293"/>
          </a:xfrm>
          <a:prstGeom prst="rect">
            <a:avLst/>
          </a:prstGeom>
        </p:spPr>
      </p:pic>
      <p:sp>
        <p:nvSpPr>
          <p:cNvPr id="40" name="Behind text 2"/>
          <p:cNvSpPr txBox="1"/>
          <p:nvPr/>
        </p:nvSpPr>
        <p:spPr>
          <a:xfrm>
            <a:off x="9098280" y="3273552"/>
            <a:ext cx="2331720" cy="640080"/>
          </a:xfrm>
          <a:prstGeom prst="rect">
            <a:avLst/>
          </a:prstGeom>
          <a:noFill/>
          <a:ln/>
        </p:spPr>
        <p:txBody>
          <a:bodyPr wrap="square" lIns="0" tIns="0" rIns="0" bIns="0" rtlCol="0" anchor="ctr"/>
          <a:lstStyle/>
          <a:p>
            <a:pPr indent="0" marL="0">
              <a:buNone/>
            </a:pPr>
            <a:r>
              <a:rPr lang="en-US" sz="1500" dirty="0">
                <a:solidFill>
                  <a:schemeClr val="bg1"/>
                </a:solidFill>
              </a:rPr>
              <a:t>Load saved records on restart</a:t>
            </a:r>
            <a:endParaRPr lang="en-US" sz="1500" dirty="0"/>
          </a:p>
        </p:txBody>
      </p:sp>
      <p:sp>
        <p:nvSpPr>
          <p:cNvPr id="41" name="Behind 3 circle"/>
          <p:cNvSpPr/>
          <p:nvPr/>
        </p:nvSpPr>
        <p:spPr>
          <a:xfrm>
            <a:off x="8366760" y="4206240"/>
            <a:ext cx="548640" cy="548640"/>
          </a:xfrm>
          <a:prstGeom prst="ellipse">
            <a:avLst/>
          </a:prstGeom>
          <a:solidFill>
            <a:schemeClr val="accent1"/>
          </a:solidFill>
          <a:ln/>
        </p:spPr>
      </p:sp>
      <p:pic>
        <p:nvPicPr>
          <p:cNvPr id="42" name="Image 8" descr="Behind 3 icon">    </p:cNvPr>
          <p:cNvPicPr>
            <a:picLocks noChangeAspect="1"/>
          </p:cNvPicPr>
          <p:nvPr/>
        </p:nvPicPr>
        <p:blipFill>
          <a:blip r:embed="rId9"/>
          <a:stretch>
            <a:fillRect/>
          </a:stretch>
        </p:blipFill>
        <p:spPr>
          <a:xfrm>
            <a:off x="8498434" y="4337914"/>
            <a:ext cx="285293" cy="285293"/>
          </a:xfrm>
          <a:prstGeom prst="rect">
            <a:avLst/>
          </a:prstGeom>
        </p:spPr>
      </p:pic>
      <p:sp>
        <p:nvSpPr>
          <p:cNvPr id="43" name="Behind text 3"/>
          <p:cNvSpPr txBox="1"/>
          <p:nvPr/>
        </p:nvSpPr>
        <p:spPr>
          <a:xfrm>
            <a:off x="9098280" y="4187952"/>
            <a:ext cx="2331720" cy="640080"/>
          </a:xfrm>
          <a:prstGeom prst="rect">
            <a:avLst/>
          </a:prstGeom>
          <a:noFill/>
          <a:ln/>
        </p:spPr>
        <p:txBody>
          <a:bodyPr wrap="square" lIns="0" tIns="0" rIns="0" bIns="0" rtlCol="0" anchor="ctr"/>
          <a:lstStyle/>
          <a:p>
            <a:pPr indent="0" marL="0">
              <a:buNone/>
            </a:pPr>
            <a:r>
              <a:rPr lang="en-US" sz="1500" dirty="0">
                <a:solidFill>
                  <a:schemeClr val="bg1"/>
                </a:solidFill>
              </a:rPr>
              <a:t>Validate user input</a:t>
            </a:r>
            <a:endParaRPr lang="en-US" sz="1500" dirty="0"/>
          </a:p>
        </p:txBody>
      </p:sp>
      <p:sp>
        <p:nvSpPr>
          <p:cNvPr id="44" name="Behind 4 circle"/>
          <p:cNvSpPr/>
          <p:nvPr/>
        </p:nvSpPr>
        <p:spPr>
          <a:xfrm>
            <a:off x="8366760" y="5120640"/>
            <a:ext cx="548640" cy="548640"/>
          </a:xfrm>
          <a:prstGeom prst="ellipse">
            <a:avLst/>
          </a:prstGeom>
          <a:solidFill>
            <a:schemeClr val="accent1"/>
          </a:solidFill>
          <a:ln/>
        </p:spPr>
      </p:sp>
      <p:pic>
        <p:nvPicPr>
          <p:cNvPr id="45" name="Image 9" descr="Behind 4 icon">    </p:cNvPr>
          <p:cNvPicPr>
            <a:picLocks noChangeAspect="1"/>
          </p:cNvPicPr>
          <p:nvPr/>
        </p:nvPicPr>
        <p:blipFill>
          <a:blip r:embed="rId10"/>
          <a:stretch>
            <a:fillRect/>
          </a:stretch>
        </p:blipFill>
        <p:spPr>
          <a:xfrm>
            <a:off x="8498434" y="5252314"/>
            <a:ext cx="285293" cy="285293"/>
          </a:xfrm>
          <a:prstGeom prst="rect">
            <a:avLst/>
          </a:prstGeom>
        </p:spPr>
      </p:pic>
      <p:sp>
        <p:nvSpPr>
          <p:cNvPr id="46" name="Behind text 4"/>
          <p:cNvSpPr txBox="1"/>
          <p:nvPr/>
        </p:nvSpPr>
        <p:spPr>
          <a:xfrm>
            <a:off x="9098280" y="5102352"/>
            <a:ext cx="2331720" cy="640080"/>
          </a:xfrm>
          <a:prstGeom prst="rect">
            <a:avLst/>
          </a:prstGeom>
          <a:noFill/>
          <a:ln/>
        </p:spPr>
        <p:txBody>
          <a:bodyPr wrap="square" lIns="0" tIns="0" rIns="0" bIns="0" rtlCol="0" anchor="ctr"/>
          <a:lstStyle/>
          <a:p>
            <a:pPr indent="0" marL="0">
              <a:buNone/>
            </a:pPr>
            <a:r>
              <a:rPr lang="en-US" sz="1500" dirty="0">
                <a:solidFill>
                  <a:schemeClr val="bg1"/>
                </a:solidFill>
              </a:rPr>
              <a:t>Handle errors with exception handling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Technologies Used</a:t>
            </a:r>
            <a:endParaRPr lang="en-US" sz="3400" dirty="0"/>
          </a:p>
        </p:txBody>
      </p:sp>
      <p:sp>
        <p:nvSpPr>
          <p:cNvPr id="3" name="Tech card 1"/>
          <p:cNvSpPr/>
          <p:nvPr/>
        </p:nvSpPr>
        <p:spPr>
          <a:xfrm>
            <a:off x="548640" y="1463040"/>
            <a:ext cx="2606040" cy="3017520"/>
          </a:xfrm>
          <a:prstGeom prst="roundRect">
            <a:avLst>
              <a:gd name="adj" fmla="val 4211"/>
            </a:avLst>
          </a:prstGeom>
          <a:solidFill>
            <a:schemeClr val="bg2"/>
          </a:solidFill>
          <a:ln/>
        </p:spPr>
      </p:sp>
      <p:sp>
        <p:nvSpPr>
          <p:cNvPr id="4" name="Tech 1 circle"/>
          <p:cNvSpPr/>
          <p:nvPr/>
        </p:nvSpPr>
        <p:spPr>
          <a:xfrm>
            <a:off x="822960" y="1737360"/>
            <a:ext cx="914400" cy="914400"/>
          </a:xfrm>
          <a:prstGeom prst="ellipse">
            <a:avLst/>
          </a:prstGeom>
          <a:solidFill>
            <a:schemeClr val="accent1"/>
          </a:solidFill>
          <a:ln/>
        </p:spPr>
      </p:sp>
      <p:pic>
        <p:nvPicPr>
          <p:cNvPr id="5" name="Image 0" descr="Tech 1 icon">    </p:cNvPr>
          <p:cNvPicPr>
            <a:picLocks noChangeAspect="1"/>
          </p:cNvPicPr>
          <p:nvPr/>
        </p:nvPicPr>
        <p:blipFill>
          <a:blip r:embed="rId1"/>
          <a:stretch>
            <a:fillRect/>
          </a:stretch>
        </p:blipFill>
        <p:spPr>
          <a:xfrm>
            <a:off x="1042416" y="1956816"/>
            <a:ext cx="475488" cy="475488"/>
          </a:xfrm>
          <a:prstGeom prst="rect">
            <a:avLst/>
          </a:prstGeom>
        </p:spPr>
      </p:pic>
      <p:sp>
        <p:nvSpPr>
          <p:cNvPr id="6" name="Tech name 1"/>
          <p:cNvSpPr txBox="1"/>
          <p:nvPr/>
        </p:nvSpPr>
        <p:spPr>
          <a:xfrm>
            <a:off x="822960" y="2880360"/>
            <a:ext cx="2103120" cy="411480"/>
          </a:xfrm>
          <a:prstGeom prst="rect">
            <a:avLst/>
          </a:prstGeom>
          <a:noFill/>
          <a:ln/>
        </p:spPr>
        <p:txBody>
          <a:bodyPr wrap="square" lIns="0" tIns="0" rIns="0" bIns="0" rtlCol="0" anchor="t"/>
          <a:lstStyle/>
          <a:p>
            <a:pPr indent="0" marL="0">
              <a:buNone/>
            </a:pPr>
            <a:r>
              <a:rPr lang="en-US" sz="2000" b="1" dirty="0">
                <a:solidFill>
                  <a:schemeClr val="tx2"/>
                </a:solidFill>
              </a:rPr>
              <a:t>Python</a:t>
            </a:r>
            <a:endParaRPr lang="en-US" sz="2000" dirty="0"/>
          </a:p>
        </p:txBody>
      </p:sp>
      <p:sp>
        <p:nvSpPr>
          <p:cNvPr id="7" name="Tech desc 1"/>
          <p:cNvSpPr txBox="1"/>
          <p:nvPr/>
        </p:nvSpPr>
        <p:spPr>
          <a:xfrm>
            <a:off x="822960" y="3383280"/>
            <a:ext cx="2103120" cy="914400"/>
          </a:xfrm>
          <a:prstGeom prst="rect">
            <a:avLst/>
          </a:prstGeom>
          <a:noFill/>
          <a:ln/>
        </p:spPr>
        <p:txBody>
          <a:bodyPr wrap="square" lIns="0" tIns="0" rIns="0" bIns="0" rtlCol="0" anchor="t"/>
          <a:lstStyle/>
          <a:p>
            <a:pPr indent="0" marL="0">
              <a:buNone/>
            </a:pPr>
            <a:r>
              <a:rPr lang="en-US" sz="1500" dirty="0">
                <a:solidFill>
                  <a:schemeClr val="tx1"/>
                </a:solidFill>
              </a:rPr>
              <a:t>Main programming language</a:t>
            </a:r>
            <a:endParaRPr lang="en-US" sz="1500" dirty="0"/>
          </a:p>
        </p:txBody>
      </p:sp>
      <p:sp>
        <p:nvSpPr>
          <p:cNvPr id="8" name="Tech card 2"/>
          <p:cNvSpPr/>
          <p:nvPr/>
        </p:nvSpPr>
        <p:spPr>
          <a:xfrm>
            <a:off x="3374136" y="1463040"/>
            <a:ext cx="2606040" cy="3017520"/>
          </a:xfrm>
          <a:prstGeom prst="roundRect">
            <a:avLst>
              <a:gd name="adj" fmla="val 4211"/>
            </a:avLst>
          </a:prstGeom>
          <a:solidFill>
            <a:schemeClr val="bg2"/>
          </a:solidFill>
          <a:ln/>
        </p:spPr>
      </p:sp>
      <p:sp>
        <p:nvSpPr>
          <p:cNvPr id="9" name="Tech 2 circle"/>
          <p:cNvSpPr/>
          <p:nvPr/>
        </p:nvSpPr>
        <p:spPr>
          <a:xfrm>
            <a:off x="3648456" y="1737360"/>
            <a:ext cx="914400" cy="914400"/>
          </a:xfrm>
          <a:prstGeom prst="ellipse">
            <a:avLst/>
          </a:prstGeom>
          <a:solidFill>
            <a:schemeClr val="accent3"/>
          </a:solidFill>
          <a:ln/>
        </p:spPr>
      </p:sp>
      <p:pic>
        <p:nvPicPr>
          <p:cNvPr id="10" name="Image 1" descr="Tech 2 icon">    </p:cNvPr>
          <p:cNvPicPr>
            <a:picLocks noChangeAspect="1"/>
          </p:cNvPicPr>
          <p:nvPr/>
        </p:nvPicPr>
        <p:blipFill>
          <a:blip r:embed="rId2"/>
          <a:stretch>
            <a:fillRect/>
          </a:stretch>
        </p:blipFill>
        <p:spPr>
          <a:xfrm>
            <a:off x="3867912" y="1956816"/>
            <a:ext cx="475488" cy="475488"/>
          </a:xfrm>
          <a:prstGeom prst="rect">
            <a:avLst/>
          </a:prstGeom>
        </p:spPr>
      </p:pic>
      <p:sp>
        <p:nvSpPr>
          <p:cNvPr id="11" name="Tech name 2"/>
          <p:cNvSpPr txBox="1"/>
          <p:nvPr/>
        </p:nvSpPr>
        <p:spPr>
          <a:xfrm>
            <a:off x="3648456" y="2880360"/>
            <a:ext cx="2103120" cy="411480"/>
          </a:xfrm>
          <a:prstGeom prst="rect">
            <a:avLst/>
          </a:prstGeom>
          <a:noFill/>
          <a:ln/>
        </p:spPr>
        <p:txBody>
          <a:bodyPr wrap="square" lIns="0" tIns="0" rIns="0" bIns="0" rtlCol="0" anchor="t"/>
          <a:lstStyle/>
          <a:p>
            <a:pPr indent="0" marL="0">
              <a:buNone/>
            </a:pPr>
            <a:r>
              <a:rPr lang="en-US" sz="2000" b="1" dirty="0">
                <a:solidFill>
                  <a:schemeClr val="tx2"/>
                </a:solidFill>
              </a:rPr>
              <a:t>JSON</a:t>
            </a:r>
            <a:endParaRPr lang="en-US" sz="2000" dirty="0"/>
          </a:p>
        </p:txBody>
      </p:sp>
      <p:sp>
        <p:nvSpPr>
          <p:cNvPr id="12" name="Tech desc 2"/>
          <p:cNvSpPr txBox="1"/>
          <p:nvPr/>
        </p:nvSpPr>
        <p:spPr>
          <a:xfrm>
            <a:off x="3648456" y="3383280"/>
            <a:ext cx="2103120" cy="914400"/>
          </a:xfrm>
          <a:prstGeom prst="rect">
            <a:avLst/>
          </a:prstGeom>
          <a:noFill/>
          <a:ln/>
        </p:spPr>
        <p:txBody>
          <a:bodyPr wrap="square" lIns="0" tIns="0" rIns="0" bIns="0" rtlCol="0" anchor="t"/>
          <a:lstStyle/>
          <a:p>
            <a:pPr indent="0" marL="0">
              <a:buNone/>
            </a:pPr>
            <a:r>
              <a:rPr lang="en-US" sz="1500" dirty="0">
                <a:solidFill>
                  <a:schemeClr val="tx1"/>
                </a:solidFill>
              </a:rPr>
              <a:t>Format used to store student records</a:t>
            </a:r>
            <a:endParaRPr lang="en-US" sz="1500" dirty="0"/>
          </a:p>
        </p:txBody>
      </p:sp>
      <p:sp>
        <p:nvSpPr>
          <p:cNvPr id="13" name="Tech card 3"/>
          <p:cNvSpPr/>
          <p:nvPr/>
        </p:nvSpPr>
        <p:spPr>
          <a:xfrm>
            <a:off x="6199632" y="1463040"/>
            <a:ext cx="2606040" cy="3017520"/>
          </a:xfrm>
          <a:prstGeom prst="roundRect">
            <a:avLst>
              <a:gd name="adj" fmla="val 4211"/>
            </a:avLst>
          </a:prstGeom>
          <a:solidFill>
            <a:schemeClr val="bg2"/>
          </a:solidFill>
          <a:ln/>
        </p:spPr>
      </p:sp>
      <p:sp>
        <p:nvSpPr>
          <p:cNvPr id="14" name="Tech 3 circle"/>
          <p:cNvSpPr/>
          <p:nvPr/>
        </p:nvSpPr>
        <p:spPr>
          <a:xfrm>
            <a:off x="6473952" y="1737360"/>
            <a:ext cx="914400" cy="914400"/>
          </a:xfrm>
          <a:prstGeom prst="ellipse">
            <a:avLst/>
          </a:prstGeom>
          <a:solidFill>
            <a:schemeClr val="accent5"/>
          </a:solidFill>
          <a:ln/>
        </p:spPr>
      </p:sp>
      <p:pic>
        <p:nvPicPr>
          <p:cNvPr id="15" name="Image 2" descr="Tech 3 icon">    </p:cNvPr>
          <p:cNvPicPr>
            <a:picLocks noChangeAspect="1"/>
          </p:cNvPicPr>
          <p:nvPr/>
        </p:nvPicPr>
        <p:blipFill>
          <a:blip r:embed="rId3"/>
          <a:stretch>
            <a:fillRect/>
          </a:stretch>
        </p:blipFill>
        <p:spPr>
          <a:xfrm>
            <a:off x="6693408" y="1956816"/>
            <a:ext cx="475488" cy="475488"/>
          </a:xfrm>
          <a:prstGeom prst="rect">
            <a:avLst/>
          </a:prstGeom>
        </p:spPr>
      </p:pic>
      <p:sp>
        <p:nvSpPr>
          <p:cNvPr id="16" name="Tech name 3"/>
          <p:cNvSpPr txBox="1"/>
          <p:nvPr/>
        </p:nvSpPr>
        <p:spPr>
          <a:xfrm>
            <a:off x="6473952" y="2880360"/>
            <a:ext cx="2103120" cy="411480"/>
          </a:xfrm>
          <a:prstGeom prst="rect">
            <a:avLst/>
          </a:prstGeom>
          <a:noFill/>
          <a:ln/>
        </p:spPr>
        <p:txBody>
          <a:bodyPr wrap="square" lIns="0" tIns="0" rIns="0" bIns="0" rtlCol="0" anchor="t"/>
          <a:lstStyle/>
          <a:p>
            <a:pPr indent="0" marL="0">
              <a:buNone/>
            </a:pPr>
            <a:r>
              <a:rPr lang="en-US" sz="2000" b="1" dirty="0">
                <a:solidFill>
                  <a:schemeClr val="tx2"/>
                </a:solidFill>
              </a:rPr>
              <a:t>VS Code</a:t>
            </a:r>
            <a:endParaRPr lang="en-US" sz="2000" dirty="0"/>
          </a:p>
        </p:txBody>
      </p:sp>
      <p:sp>
        <p:nvSpPr>
          <p:cNvPr id="17" name="Tech desc 3"/>
          <p:cNvSpPr txBox="1"/>
          <p:nvPr/>
        </p:nvSpPr>
        <p:spPr>
          <a:xfrm>
            <a:off x="6473952" y="3383280"/>
            <a:ext cx="2103120" cy="914400"/>
          </a:xfrm>
          <a:prstGeom prst="rect">
            <a:avLst/>
          </a:prstGeom>
          <a:noFill/>
          <a:ln/>
        </p:spPr>
        <p:txBody>
          <a:bodyPr wrap="square" lIns="0" tIns="0" rIns="0" bIns="0" rtlCol="0" anchor="t"/>
          <a:lstStyle/>
          <a:p>
            <a:pPr indent="0" marL="0">
              <a:buNone/>
            </a:pPr>
            <a:r>
              <a:rPr lang="en-US" sz="1500" dirty="0">
                <a:solidFill>
                  <a:schemeClr val="tx1"/>
                </a:solidFill>
              </a:rPr>
              <a:t>Editor used to write and run the program</a:t>
            </a:r>
            <a:endParaRPr lang="en-US" sz="1500" dirty="0"/>
          </a:p>
        </p:txBody>
      </p:sp>
      <p:sp>
        <p:nvSpPr>
          <p:cNvPr id="18" name="Tech card 4"/>
          <p:cNvSpPr/>
          <p:nvPr/>
        </p:nvSpPr>
        <p:spPr>
          <a:xfrm>
            <a:off x="9025128" y="1463040"/>
            <a:ext cx="2606040" cy="3017520"/>
          </a:xfrm>
          <a:prstGeom prst="roundRect">
            <a:avLst>
              <a:gd name="adj" fmla="val 4211"/>
            </a:avLst>
          </a:prstGeom>
          <a:solidFill>
            <a:schemeClr val="bg2"/>
          </a:solidFill>
          <a:ln/>
        </p:spPr>
      </p:sp>
      <p:sp>
        <p:nvSpPr>
          <p:cNvPr id="19" name="Tech 4 circle"/>
          <p:cNvSpPr/>
          <p:nvPr/>
        </p:nvSpPr>
        <p:spPr>
          <a:xfrm>
            <a:off x="9299448" y="1737360"/>
            <a:ext cx="914400" cy="914400"/>
          </a:xfrm>
          <a:prstGeom prst="ellipse">
            <a:avLst/>
          </a:prstGeom>
          <a:solidFill>
            <a:schemeClr val="tx2"/>
          </a:solidFill>
          <a:ln/>
        </p:spPr>
      </p:sp>
      <p:pic>
        <p:nvPicPr>
          <p:cNvPr id="20" name="Image 3" descr="Tech 4 icon">    </p:cNvPr>
          <p:cNvPicPr>
            <a:picLocks noChangeAspect="1"/>
          </p:cNvPicPr>
          <p:nvPr/>
        </p:nvPicPr>
        <p:blipFill>
          <a:blip r:embed="rId4"/>
          <a:stretch>
            <a:fillRect/>
          </a:stretch>
        </p:blipFill>
        <p:spPr>
          <a:xfrm>
            <a:off x="9518904" y="1956816"/>
            <a:ext cx="475488" cy="475488"/>
          </a:xfrm>
          <a:prstGeom prst="rect">
            <a:avLst/>
          </a:prstGeom>
        </p:spPr>
      </p:pic>
      <p:sp>
        <p:nvSpPr>
          <p:cNvPr id="21" name="Tech name 4"/>
          <p:cNvSpPr txBox="1"/>
          <p:nvPr/>
        </p:nvSpPr>
        <p:spPr>
          <a:xfrm>
            <a:off x="9299448" y="2880360"/>
            <a:ext cx="2103120" cy="411480"/>
          </a:xfrm>
          <a:prstGeom prst="rect">
            <a:avLst/>
          </a:prstGeom>
          <a:noFill/>
          <a:ln/>
        </p:spPr>
        <p:txBody>
          <a:bodyPr wrap="square" lIns="0" tIns="0" rIns="0" bIns="0" rtlCol="0" anchor="t"/>
          <a:lstStyle/>
          <a:p>
            <a:pPr indent="0" marL="0">
              <a:buNone/>
            </a:pPr>
            <a:r>
              <a:rPr lang="en-US" sz="2000" b="1" dirty="0">
                <a:solidFill>
                  <a:schemeClr val="tx2"/>
                </a:solidFill>
              </a:rPr>
              <a:t>Git and GitHub</a:t>
            </a:r>
            <a:endParaRPr lang="en-US" sz="2000" dirty="0"/>
          </a:p>
        </p:txBody>
      </p:sp>
      <p:sp>
        <p:nvSpPr>
          <p:cNvPr id="22" name="Tech desc 4"/>
          <p:cNvSpPr txBox="1"/>
          <p:nvPr/>
        </p:nvSpPr>
        <p:spPr>
          <a:xfrm>
            <a:off x="9299448" y="3383280"/>
            <a:ext cx="2103120" cy="914400"/>
          </a:xfrm>
          <a:prstGeom prst="rect">
            <a:avLst/>
          </a:prstGeom>
          <a:noFill/>
          <a:ln/>
        </p:spPr>
        <p:txBody>
          <a:bodyPr wrap="square" lIns="0" tIns="0" rIns="0" bIns="0" rtlCol="0" anchor="t"/>
          <a:lstStyle/>
          <a:p>
            <a:pPr indent="0" marL="0">
              <a:buNone/>
            </a:pPr>
            <a:r>
              <a:rPr lang="en-US" sz="1500" dirty="0">
                <a:solidFill>
                  <a:schemeClr val="tx1"/>
                </a:solidFill>
              </a:rPr>
              <a:t>Version control, hosting and submission of project files</a:t>
            </a:r>
            <a:endParaRPr lang="en-US" sz="1500" dirty="0"/>
          </a:p>
        </p:txBody>
      </p:sp>
      <p:sp>
        <p:nvSpPr>
          <p:cNvPr id="23" name="Standard library card"/>
          <p:cNvSpPr/>
          <p:nvPr/>
        </p:nvSpPr>
        <p:spPr>
          <a:xfrm>
            <a:off x="548640" y="4754880"/>
            <a:ext cx="11064240" cy="1280160"/>
          </a:xfrm>
          <a:prstGeom prst="roundRect">
            <a:avLst>
              <a:gd name="adj" fmla="val 10714"/>
            </a:avLst>
          </a:prstGeom>
          <a:solidFill>
            <a:schemeClr val="tx2"/>
          </a:solidFill>
          <a:ln/>
        </p:spPr>
      </p:sp>
      <p:sp>
        <p:nvSpPr>
          <p:cNvPr id="24" name="Library heading"/>
          <p:cNvSpPr txBox="1"/>
          <p:nvPr/>
        </p:nvSpPr>
        <p:spPr>
          <a:xfrm>
            <a:off x="868680" y="4937760"/>
            <a:ext cx="457200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Python standard-library modules</a:t>
            </a:r>
            <a:endParaRPr lang="en-US" sz="1800" dirty="0"/>
          </a:p>
        </p:txBody>
      </p:sp>
      <p:sp>
        <p:nvSpPr>
          <p:cNvPr id="25" name="Library modules"/>
          <p:cNvSpPr txBox="1"/>
          <p:nvPr/>
        </p:nvSpPr>
        <p:spPr>
          <a:xfrm>
            <a:off x="868680" y="5349240"/>
            <a:ext cx="6400800" cy="640080"/>
          </a:xfrm>
          <a:prstGeom prst="rect">
            <a:avLst/>
          </a:prstGeom>
          <a:noFill/>
          <a:ln/>
        </p:spPr>
        <p:txBody>
          <a:bodyPr wrap="square" lIns="0" tIns="0" rIns="0" bIns="0" rtlCol="0" anchor="t"/>
          <a:lstStyle/>
          <a:p>
            <a:pPr indent="0" marL="0">
              <a:buNone/>
            </a:pPr>
            <a:r>
              <a:rPr lang="en-US" sz="1500" b="1" dirty="0">
                <a:solidFill>
                  <a:schemeClr val="accent2"/>
                </a:solidFill>
              </a:rPr>
              <a:t>json</a:t>
            </a:r>
            <a:pPr indent="0" marL="0">
              <a:buNone/>
            </a:pPr>
            <a:r>
              <a:rPr lang="en-US" sz="1500" dirty="0">
                <a:solidFill>
                  <a:schemeClr val="bg1"/>
                </a:solidFill>
              </a:rPr>
              <a:t>  reads and writes student records</a:t>
            </a:r>
            <a:endParaRPr lang="en-US" sz="1500" dirty="0"/>
          </a:p>
          <a:p>
            <a:pPr indent="0" marL="0">
              <a:buNone/>
            </a:pPr>
            <a:r>
              <a:rPr lang="en-US" sz="1500" b="1" dirty="0">
                <a:solidFill>
                  <a:schemeClr val="accent2"/>
                </a:solidFill>
              </a:rPr>
              <a:t>abc</a:t>
            </a:r>
            <a:pPr indent="0" marL="0">
              <a:buNone/>
            </a:pPr>
            <a:r>
              <a:rPr lang="en-US" sz="1500" dirty="0">
                <a:solidFill>
                  <a:schemeClr val="bg1"/>
                </a:solidFill>
              </a:rPr>
              <a:t>  provides the abstract base class</a:t>
            </a:r>
            <a:endParaRPr lang="en-US" sz="1500" dirty="0"/>
          </a:p>
        </p:txBody>
      </p:sp>
      <p:sp>
        <p:nvSpPr>
          <p:cNvPr id="26" name="Library note"/>
          <p:cNvSpPr txBox="1"/>
          <p:nvPr/>
        </p:nvSpPr>
        <p:spPr>
          <a:xfrm>
            <a:off x="7589520" y="5074920"/>
            <a:ext cx="3749040" cy="731520"/>
          </a:xfrm>
          <a:prstGeom prst="rect">
            <a:avLst/>
          </a:prstGeom>
          <a:noFill/>
          <a:ln/>
        </p:spPr>
        <p:txBody>
          <a:bodyPr wrap="square" lIns="0" tIns="0" rIns="0" bIns="0" rtlCol="0" anchor="ctr"/>
          <a:lstStyle/>
          <a:p>
            <a:pPr indent="0" marL="0">
              <a:buNone/>
            </a:pPr>
            <a:r>
              <a:rPr lang="en-US" sz="1500" dirty="0">
                <a:solidFill>
                  <a:schemeClr val="bg1"/>
                </a:solidFill>
              </a:rPr>
              <a:t>Both modules ship with Python, so no extra installation is needed.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System Workflow</a:t>
            </a:r>
            <a:endParaRPr lang="en-US" sz="3400" dirty="0"/>
          </a:p>
        </p:txBody>
      </p:sp>
      <p:sp>
        <p:nvSpPr>
          <p:cNvPr id="3" name="Flow Start"/>
          <p:cNvSpPr txBox="1"/>
          <p:nvPr/>
        </p:nvSpPr>
        <p:spPr>
          <a:xfrm>
            <a:off x="548640" y="1600200"/>
            <a:ext cx="1737360" cy="1005840"/>
          </a:xfrm>
          <a:prstGeom prst="roundRect">
            <a:avLst>
              <a:gd name="adj" fmla="val 45455"/>
            </a:avLst>
          </a:prstGeom>
          <a:solidFill>
            <a:schemeClr val="accent1"/>
          </a:solidFill>
          <a:ln w="19050">
            <a:solidFill>
              <a:schemeClr val="accent1"/>
            </a:solidFill>
          </a:ln>
        </p:spPr>
        <p:txBody>
          <a:bodyPr wrap="square" lIns="50800" tIns="50800" rIns="50800" bIns="50800" rtlCol="0" anchor="ctr"/>
          <a:lstStyle/>
          <a:p>
            <a:pPr algn="ctr" indent="0" marL="0">
              <a:buNone/>
            </a:pPr>
            <a:r>
              <a:rPr lang="en-US" sz="1500" b="1" dirty="0">
                <a:solidFill>
                  <a:schemeClr val="bg1"/>
                </a:solidFill>
              </a:rPr>
              <a:t>Start</a:t>
            </a:r>
            <a:endParaRPr lang="en-US" sz="1500" dirty="0"/>
          </a:p>
        </p:txBody>
      </p:sp>
      <p:sp>
        <p:nvSpPr>
          <p:cNvPr id="4" name="Flow arrow 1"/>
          <p:cNvSpPr/>
          <p:nvPr/>
        </p:nvSpPr>
        <p:spPr>
          <a:xfrm>
            <a:off x="2286000" y="2103120"/>
            <a:ext cx="411480" cy="0"/>
          </a:xfrm>
          <a:prstGeom prst="line">
            <a:avLst/>
          </a:prstGeom>
          <a:noFill/>
          <a:ln w="25400">
            <a:solidFill>
              <a:schemeClr val="accent1"/>
            </a:solidFill>
            <a:prstDash val="solid"/>
            <a:tailEnd type="triangle"/>
          </a:ln>
        </p:spPr>
      </p:sp>
      <p:sp>
        <p:nvSpPr>
          <p:cNvPr id="5" name="Flow Create system object"/>
          <p:cNvSpPr txBox="1"/>
          <p:nvPr/>
        </p:nvSpPr>
        <p:spPr>
          <a:xfrm>
            <a:off x="2697480" y="1600200"/>
            <a:ext cx="1737360" cy="1005840"/>
          </a:xfrm>
          <a:prstGeom prst="rect">
            <a:avLst/>
          </a:prstGeom>
          <a:solidFill>
            <a:schemeClr val="bg2"/>
          </a:solidFill>
          <a:ln w="19050">
            <a:solidFill>
              <a:schemeClr val="accent1"/>
            </a:solidFill>
          </a:ln>
        </p:spPr>
        <p:txBody>
          <a:bodyPr wrap="square" lIns="50800" tIns="50800" rIns="50800" bIns="50800" rtlCol="0" anchor="ctr"/>
          <a:lstStyle/>
          <a:p>
            <a:pPr algn="ctr" indent="0" marL="0">
              <a:buNone/>
            </a:pPr>
            <a:r>
              <a:rPr lang="en-US" sz="1500" b="1" dirty="0">
                <a:solidFill>
                  <a:schemeClr val="tx2"/>
                </a:solidFill>
              </a:rPr>
              <a:t>Create system object</a:t>
            </a:r>
            <a:endParaRPr lang="en-US" sz="1500" dirty="0"/>
          </a:p>
        </p:txBody>
      </p:sp>
      <p:sp>
        <p:nvSpPr>
          <p:cNvPr id="6" name="Flow arrow 2"/>
          <p:cNvSpPr/>
          <p:nvPr/>
        </p:nvSpPr>
        <p:spPr>
          <a:xfrm>
            <a:off x="4434840" y="2103120"/>
            <a:ext cx="411480" cy="0"/>
          </a:xfrm>
          <a:prstGeom prst="line">
            <a:avLst/>
          </a:prstGeom>
          <a:noFill/>
          <a:ln w="25400">
            <a:solidFill>
              <a:schemeClr val="accent1"/>
            </a:solidFill>
            <a:prstDash val="solid"/>
            <a:tailEnd type="triangle"/>
          </a:ln>
        </p:spPr>
      </p:sp>
      <p:sp>
        <p:nvSpPr>
          <p:cNvPr id="7" name="Flow Load students.json"/>
          <p:cNvSpPr txBox="1"/>
          <p:nvPr/>
        </p:nvSpPr>
        <p:spPr>
          <a:xfrm>
            <a:off x="4846320" y="1600200"/>
            <a:ext cx="1737360" cy="1005840"/>
          </a:xfrm>
          <a:prstGeom prst="rect">
            <a:avLst/>
          </a:prstGeom>
          <a:solidFill>
            <a:schemeClr val="bg2"/>
          </a:solidFill>
          <a:ln w="19050">
            <a:solidFill>
              <a:schemeClr val="accent1"/>
            </a:solidFill>
          </a:ln>
        </p:spPr>
        <p:txBody>
          <a:bodyPr wrap="square" lIns="50800" tIns="50800" rIns="50800" bIns="50800" rtlCol="0" anchor="ctr"/>
          <a:lstStyle/>
          <a:p>
            <a:pPr algn="ctr" indent="0" marL="0">
              <a:buNone/>
            </a:pPr>
            <a:r>
              <a:rPr lang="en-US" sz="1500" b="1" dirty="0">
                <a:solidFill>
                  <a:schemeClr val="tx2"/>
                </a:solidFill>
              </a:rPr>
              <a:t>Load students.json</a:t>
            </a:r>
            <a:endParaRPr lang="en-US" sz="1500" dirty="0"/>
          </a:p>
        </p:txBody>
      </p:sp>
      <p:sp>
        <p:nvSpPr>
          <p:cNvPr id="8" name="Flow arrow 3"/>
          <p:cNvSpPr/>
          <p:nvPr/>
        </p:nvSpPr>
        <p:spPr>
          <a:xfrm>
            <a:off x="6583680" y="2103120"/>
            <a:ext cx="411480" cy="0"/>
          </a:xfrm>
          <a:prstGeom prst="line">
            <a:avLst/>
          </a:prstGeom>
          <a:noFill/>
          <a:ln w="25400">
            <a:solidFill>
              <a:schemeClr val="accent1"/>
            </a:solidFill>
            <a:prstDash val="solid"/>
            <a:tailEnd type="triangle"/>
          </a:ln>
        </p:spPr>
      </p:sp>
      <p:sp>
        <p:nvSpPr>
          <p:cNvPr id="9" name="Flow Display menu"/>
          <p:cNvSpPr txBox="1"/>
          <p:nvPr/>
        </p:nvSpPr>
        <p:spPr>
          <a:xfrm>
            <a:off x="6995160" y="1600200"/>
            <a:ext cx="1737360" cy="1005840"/>
          </a:xfrm>
          <a:prstGeom prst="rect">
            <a:avLst/>
          </a:prstGeom>
          <a:solidFill>
            <a:schemeClr val="bg2"/>
          </a:solidFill>
          <a:ln w="19050">
            <a:solidFill>
              <a:schemeClr val="accent1"/>
            </a:solidFill>
          </a:ln>
        </p:spPr>
        <p:txBody>
          <a:bodyPr wrap="square" lIns="50800" tIns="50800" rIns="50800" bIns="50800" rtlCol="0" anchor="ctr"/>
          <a:lstStyle/>
          <a:p>
            <a:pPr algn="ctr" indent="0" marL="0">
              <a:buNone/>
            </a:pPr>
            <a:r>
              <a:rPr lang="en-US" sz="1500" b="1" dirty="0">
                <a:solidFill>
                  <a:schemeClr val="tx2"/>
                </a:solidFill>
              </a:rPr>
              <a:t>Display menu</a:t>
            </a:r>
            <a:endParaRPr lang="en-US" sz="1500" dirty="0"/>
          </a:p>
        </p:txBody>
      </p:sp>
      <p:sp>
        <p:nvSpPr>
          <p:cNvPr id="10" name="Flow arrow 4"/>
          <p:cNvSpPr/>
          <p:nvPr/>
        </p:nvSpPr>
        <p:spPr>
          <a:xfrm>
            <a:off x="8732520" y="2103120"/>
            <a:ext cx="411480" cy="0"/>
          </a:xfrm>
          <a:prstGeom prst="line">
            <a:avLst/>
          </a:prstGeom>
          <a:noFill/>
          <a:ln w="25400">
            <a:solidFill>
              <a:schemeClr val="accent1"/>
            </a:solidFill>
            <a:prstDash val="solid"/>
            <a:tailEnd type="triangle"/>
          </a:ln>
        </p:spPr>
      </p:sp>
      <p:sp>
        <p:nvSpPr>
          <p:cNvPr id="11" name="Flow decision"/>
          <p:cNvSpPr txBox="1"/>
          <p:nvPr/>
        </p:nvSpPr>
        <p:spPr>
          <a:xfrm>
            <a:off x="9144000" y="1463040"/>
            <a:ext cx="2468880" cy="1280160"/>
          </a:xfrm>
          <a:prstGeom prst="diamond">
            <a:avLst/>
          </a:prstGeom>
          <a:solidFill>
            <a:schemeClr val="accent2"/>
          </a:solidFill>
          <a:ln/>
        </p:spPr>
        <p:txBody>
          <a:bodyPr wrap="square" lIns="0" tIns="0" rIns="0" bIns="0" rtlCol="0" anchor="ctr"/>
          <a:lstStyle/>
          <a:p>
            <a:pPr algn="ctr" indent="0" marL="0">
              <a:buNone/>
            </a:pPr>
            <a:r>
              <a:rPr lang="en-US" sz="1400" b="1" dirty="0">
                <a:solidFill>
                  <a:schemeClr val="tx2"/>
                </a:solidFill>
              </a:rPr>
              <a:t>User selects option</a:t>
            </a:r>
            <a:endParaRPr lang="en-US" sz="1400" dirty="0"/>
          </a:p>
        </p:txBody>
      </p:sp>
      <p:sp>
        <p:nvSpPr>
          <p:cNvPr id="12" name="Branch stem"/>
          <p:cNvSpPr/>
          <p:nvPr/>
        </p:nvSpPr>
        <p:spPr>
          <a:xfrm>
            <a:off x="10378440" y="2743200"/>
            <a:ext cx="0" cy="548640"/>
          </a:xfrm>
          <a:prstGeom prst="line">
            <a:avLst/>
          </a:prstGeom>
          <a:noFill/>
          <a:ln w="22225">
            <a:solidFill>
              <a:schemeClr val="accent6"/>
            </a:solidFill>
            <a:prstDash val="solid"/>
          </a:ln>
        </p:spPr>
      </p:sp>
      <p:sp>
        <p:nvSpPr>
          <p:cNvPr id="13" name="Branch bus"/>
          <p:cNvSpPr/>
          <p:nvPr/>
        </p:nvSpPr>
        <p:spPr>
          <a:xfrm>
            <a:off x="1371600" y="3291840"/>
            <a:ext cx="9418320" cy="0"/>
          </a:xfrm>
          <a:prstGeom prst="line">
            <a:avLst/>
          </a:prstGeom>
          <a:noFill/>
          <a:ln w="22225">
            <a:solidFill>
              <a:schemeClr val="accent6"/>
            </a:solidFill>
            <a:prstDash val="solid"/>
          </a:ln>
        </p:spPr>
      </p:sp>
      <p:sp>
        <p:nvSpPr>
          <p:cNvPr id="14" name="Branch drop 1"/>
          <p:cNvSpPr/>
          <p:nvPr/>
        </p:nvSpPr>
        <p:spPr>
          <a:xfrm>
            <a:off x="1371600" y="3291840"/>
            <a:ext cx="0" cy="320040"/>
          </a:xfrm>
          <a:prstGeom prst="line">
            <a:avLst/>
          </a:prstGeom>
          <a:noFill/>
          <a:ln w="25400">
            <a:solidFill>
              <a:schemeClr val="accent1"/>
            </a:solidFill>
            <a:prstDash val="solid"/>
            <a:tailEnd type="triangle"/>
          </a:ln>
        </p:spPr>
      </p:sp>
      <p:sp>
        <p:nvSpPr>
          <p:cNvPr id="15" name="Flow op Add student"/>
          <p:cNvSpPr txBox="1"/>
          <p:nvPr/>
        </p:nvSpPr>
        <p:spPr>
          <a:xfrm>
            <a:off x="548640" y="3611880"/>
            <a:ext cx="1645920" cy="822960"/>
          </a:xfrm>
          <a:prstGeom prst="roundRect">
            <a:avLst>
              <a:gd name="adj" fmla="val 11111"/>
            </a:avLst>
          </a:prstGeom>
          <a:solidFill>
            <a:schemeClr val="bg2"/>
          </a:solidFill>
          <a:ln w="19050">
            <a:solidFill>
              <a:schemeClr val="accent1"/>
            </a:solidFill>
          </a:ln>
        </p:spPr>
        <p:txBody>
          <a:bodyPr wrap="square" lIns="25400" tIns="25400" rIns="25400" bIns="25400" rtlCol="0" anchor="ctr"/>
          <a:lstStyle/>
          <a:p>
            <a:pPr algn="ctr" indent="0" marL="0">
              <a:buNone/>
            </a:pPr>
            <a:r>
              <a:rPr lang="en-US" sz="1500" b="1" dirty="0">
                <a:solidFill>
                  <a:schemeClr val="tx2"/>
                </a:solidFill>
              </a:rPr>
              <a:t>Add student</a:t>
            </a:r>
            <a:endParaRPr lang="en-US" sz="1500" dirty="0"/>
          </a:p>
        </p:txBody>
      </p:sp>
      <p:sp>
        <p:nvSpPr>
          <p:cNvPr id="16" name="Branch drop 2"/>
          <p:cNvSpPr/>
          <p:nvPr/>
        </p:nvSpPr>
        <p:spPr>
          <a:xfrm>
            <a:off x="3255264" y="3291840"/>
            <a:ext cx="0" cy="320040"/>
          </a:xfrm>
          <a:prstGeom prst="line">
            <a:avLst/>
          </a:prstGeom>
          <a:noFill/>
          <a:ln w="25400">
            <a:solidFill>
              <a:schemeClr val="accent1"/>
            </a:solidFill>
            <a:prstDash val="solid"/>
            <a:tailEnd type="triangle"/>
          </a:ln>
        </p:spPr>
      </p:sp>
      <p:sp>
        <p:nvSpPr>
          <p:cNvPr id="17" name="Flow op Update marks"/>
          <p:cNvSpPr txBox="1"/>
          <p:nvPr/>
        </p:nvSpPr>
        <p:spPr>
          <a:xfrm>
            <a:off x="2432304" y="3611880"/>
            <a:ext cx="1645920" cy="822960"/>
          </a:xfrm>
          <a:prstGeom prst="roundRect">
            <a:avLst>
              <a:gd name="adj" fmla="val 11111"/>
            </a:avLst>
          </a:prstGeom>
          <a:solidFill>
            <a:schemeClr val="bg2"/>
          </a:solidFill>
          <a:ln w="19050">
            <a:solidFill>
              <a:schemeClr val="accent1"/>
            </a:solidFill>
          </a:ln>
        </p:spPr>
        <p:txBody>
          <a:bodyPr wrap="square" lIns="25400" tIns="25400" rIns="25400" bIns="25400" rtlCol="0" anchor="ctr"/>
          <a:lstStyle/>
          <a:p>
            <a:pPr algn="ctr" indent="0" marL="0">
              <a:buNone/>
            </a:pPr>
            <a:r>
              <a:rPr lang="en-US" sz="1500" b="1" dirty="0">
                <a:solidFill>
                  <a:schemeClr val="tx2"/>
                </a:solidFill>
              </a:rPr>
              <a:t>Update marks</a:t>
            </a:r>
            <a:endParaRPr lang="en-US" sz="1500" dirty="0"/>
          </a:p>
        </p:txBody>
      </p:sp>
      <p:sp>
        <p:nvSpPr>
          <p:cNvPr id="18" name="Branch drop 3"/>
          <p:cNvSpPr/>
          <p:nvPr/>
        </p:nvSpPr>
        <p:spPr>
          <a:xfrm>
            <a:off x="5138928" y="3291840"/>
            <a:ext cx="0" cy="320040"/>
          </a:xfrm>
          <a:prstGeom prst="line">
            <a:avLst/>
          </a:prstGeom>
          <a:noFill/>
          <a:ln w="25400">
            <a:solidFill>
              <a:schemeClr val="accent1"/>
            </a:solidFill>
            <a:prstDash val="solid"/>
            <a:tailEnd type="triangle"/>
          </a:ln>
        </p:spPr>
      </p:sp>
      <p:sp>
        <p:nvSpPr>
          <p:cNvPr id="19" name="Flow op Delete student"/>
          <p:cNvSpPr txBox="1"/>
          <p:nvPr/>
        </p:nvSpPr>
        <p:spPr>
          <a:xfrm>
            <a:off x="4315968" y="3611880"/>
            <a:ext cx="1645920" cy="822960"/>
          </a:xfrm>
          <a:prstGeom prst="roundRect">
            <a:avLst>
              <a:gd name="adj" fmla="val 11111"/>
            </a:avLst>
          </a:prstGeom>
          <a:solidFill>
            <a:schemeClr val="bg2"/>
          </a:solidFill>
          <a:ln w="19050">
            <a:solidFill>
              <a:schemeClr val="accent1"/>
            </a:solidFill>
          </a:ln>
        </p:spPr>
        <p:txBody>
          <a:bodyPr wrap="square" lIns="25400" tIns="25400" rIns="25400" bIns="25400" rtlCol="0" anchor="ctr"/>
          <a:lstStyle/>
          <a:p>
            <a:pPr algn="ctr" indent="0" marL="0">
              <a:buNone/>
            </a:pPr>
            <a:r>
              <a:rPr lang="en-US" sz="1500" b="1" dirty="0">
                <a:solidFill>
                  <a:schemeClr val="tx2"/>
                </a:solidFill>
              </a:rPr>
              <a:t>Delete student</a:t>
            </a:r>
            <a:endParaRPr lang="en-US" sz="1500" dirty="0"/>
          </a:p>
        </p:txBody>
      </p:sp>
      <p:sp>
        <p:nvSpPr>
          <p:cNvPr id="20" name="Branch drop 4"/>
          <p:cNvSpPr/>
          <p:nvPr/>
        </p:nvSpPr>
        <p:spPr>
          <a:xfrm>
            <a:off x="7022592" y="3291840"/>
            <a:ext cx="0" cy="320040"/>
          </a:xfrm>
          <a:prstGeom prst="line">
            <a:avLst/>
          </a:prstGeom>
          <a:noFill/>
          <a:ln w="25400">
            <a:solidFill>
              <a:schemeClr val="accent1"/>
            </a:solidFill>
            <a:prstDash val="solid"/>
            <a:tailEnd type="triangle"/>
          </a:ln>
        </p:spPr>
      </p:sp>
      <p:sp>
        <p:nvSpPr>
          <p:cNvPr id="21" name="Flow op Display all"/>
          <p:cNvSpPr txBox="1"/>
          <p:nvPr/>
        </p:nvSpPr>
        <p:spPr>
          <a:xfrm>
            <a:off x="6199632" y="3611880"/>
            <a:ext cx="1645920" cy="822960"/>
          </a:xfrm>
          <a:prstGeom prst="roundRect">
            <a:avLst>
              <a:gd name="adj" fmla="val 11111"/>
            </a:avLst>
          </a:prstGeom>
          <a:solidFill>
            <a:schemeClr val="bg2"/>
          </a:solidFill>
          <a:ln w="19050">
            <a:solidFill>
              <a:schemeClr val="accent1"/>
            </a:solidFill>
          </a:ln>
        </p:spPr>
        <p:txBody>
          <a:bodyPr wrap="square" lIns="25400" tIns="25400" rIns="25400" bIns="25400" rtlCol="0" anchor="ctr"/>
          <a:lstStyle/>
          <a:p>
            <a:pPr algn="ctr" indent="0" marL="0">
              <a:buNone/>
            </a:pPr>
            <a:r>
              <a:rPr lang="en-US" sz="1500" b="1" dirty="0">
                <a:solidFill>
                  <a:schemeClr val="tx2"/>
                </a:solidFill>
              </a:rPr>
              <a:t>Display all</a:t>
            </a:r>
            <a:endParaRPr lang="en-US" sz="1500" dirty="0"/>
          </a:p>
        </p:txBody>
      </p:sp>
      <p:sp>
        <p:nvSpPr>
          <p:cNvPr id="22" name="Branch drop 5"/>
          <p:cNvSpPr/>
          <p:nvPr/>
        </p:nvSpPr>
        <p:spPr>
          <a:xfrm>
            <a:off x="8906256" y="3291840"/>
            <a:ext cx="0" cy="320040"/>
          </a:xfrm>
          <a:prstGeom prst="line">
            <a:avLst/>
          </a:prstGeom>
          <a:noFill/>
          <a:ln w="25400">
            <a:solidFill>
              <a:schemeClr val="accent1"/>
            </a:solidFill>
            <a:prstDash val="solid"/>
            <a:tailEnd type="triangle"/>
          </a:ln>
        </p:spPr>
      </p:sp>
      <p:sp>
        <p:nvSpPr>
          <p:cNvPr id="23" name="Flow op Search student"/>
          <p:cNvSpPr txBox="1"/>
          <p:nvPr/>
        </p:nvSpPr>
        <p:spPr>
          <a:xfrm>
            <a:off x="8083296" y="3611880"/>
            <a:ext cx="1645920" cy="822960"/>
          </a:xfrm>
          <a:prstGeom prst="roundRect">
            <a:avLst>
              <a:gd name="adj" fmla="val 11111"/>
            </a:avLst>
          </a:prstGeom>
          <a:solidFill>
            <a:schemeClr val="bg2"/>
          </a:solidFill>
          <a:ln w="19050">
            <a:solidFill>
              <a:schemeClr val="accent1"/>
            </a:solidFill>
          </a:ln>
        </p:spPr>
        <p:txBody>
          <a:bodyPr wrap="square" lIns="25400" tIns="25400" rIns="25400" bIns="25400" rtlCol="0" anchor="ctr"/>
          <a:lstStyle/>
          <a:p>
            <a:pPr algn="ctr" indent="0" marL="0">
              <a:buNone/>
            </a:pPr>
            <a:r>
              <a:rPr lang="en-US" sz="1500" b="1" dirty="0">
                <a:solidFill>
                  <a:schemeClr val="tx2"/>
                </a:solidFill>
              </a:rPr>
              <a:t>Search student</a:t>
            </a:r>
            <a:endParaRPr lang="en-US" sz="1500" dirty="0"/>
          </a:p>
        </p:txBody>
      </p:sp>
      <p:sp>
        <p:nvSpPr>
          <p:cNvPr id="24" name="Branch drop 6"/>
          <p:cNvSpPr/>
          <p:nvPr/>
        </p:nvSpPr>
        <p:spPr>
          <a:xfrm>
            <a:off x="10789920" y="3291840"/>
            <a:ext cx="0" cy="320040"/>
          </a:xfrm>
          <a:prstGeom prst="line">
            <a:avLst/>
          </a:prstGeom>
          <a:noFill/>
          <a:ln w="25400">
            <a:solidFill>
              <a:schemeClr val="accent1"/>
            </a:solidFill>
            <a:prstDash val="solid"/>
            <a:tailEnd type="triangle"/>
          </a:ln>
        </p:spPr>
      </p:sp>
      <p:sp>
        <p:nvSpPr>
          <p:cNvPr id="25" name="Flow op Exit"/>
          <p:cNvSpPr txBox="1"/>
          <p:nvPr/>
        </p:nvSpPr>
        <p:spPr>
          <a:xfrm>
            <a:off x="9966960" y="3611880"/>
            <a:ext cx="1645920" cy="822960"/>
          </a:xfrm>
          <a:prstGeom prst="roundRect">
            <a:avLst>
              <a:gd name="adj" fmla="val 11111"/>
            </a:avLst>
          </a:prstGeom>
          <a:solidFill>
            <a:schemeClr val="accent4"/>
          </a:solidFill>
          <a:ln w="19050">
            <a:solidFill>
              <a:schemeClr val="accent4"/>
            </a:solidFill>
          </a:ln>
        </p:spPr>
        <p:txBody>
          <a:bodyPr wrap="square" lIns="25400" tIns="25400" rIns="25400" bIns="25400" rtlCol="0" anchor="ctr"/>
          <a:lstStyle/>
          <a:p>
            <a:pPr algn="ctr" indent="0" marL="0">
              <a:buNone/>
            </a:pPr>
            <a:r>
              <a:rPr lang="en-US" sz="1500" b="1" dirty="0">
                <a:solidFill>
                  <a:schemeClr val="bg1"/>
                </a:solidFill>
              </a:rPr>
              <a:t>Exit</a:t>
            </a:r>
            <a:endParaRPr lang="en-US" sz="1500" dirty="0"/>
          </a:p>
        </p:txBody>
      </p:sp>
      <p:sp>
        <p:nvSpPr>
          <p:cNvPr id="26" name="Save arrow 1"/>
          <p:cNvSpPr/>
          <p:nvPr/>
        </p:nvSpPr>
        <p:spPr>
          <a:xfrm>
            <a:off x="1371600" y="4434840"/>
            <a:ext cx="0" cy="411480"/>
          </a:xfrm>
          <a:prstGeom prst="line">
            <a:avLst/>
          </a:prstGeom>
          <a:noFill/>
          <a:ln w="25400">
            <a:solidFill>
              <a:schemeClr val="accent3"/>
            </a:solidFill>
            <a:prstDash val="solid"/>
            <a:tailEnd type="triangle"/>
          </a:ln>
        </p:spPr>
      </p:sp>
      <p:sp>
        <p:nvSpPr>
          <p:cNvPr id="27" name="Save arrow 2"/>
          <p:cNvSpPr/>
          <p:nvPr/>
        </p:nvSpPr>
        <p:spPr>
          <a:xfrm>
            <a:off x="3255264" y="4434840"/>
            <a:ext cx="0" cy="411480"/>
          </a:xfrm>
          <a:prstGeom prst="line">
            <a:avLst/>
          </a:prstGeom>
          <a:noFill/>
          <a:ln w="25400">
            <a:solidFill>
              <a:schemeClr val="accent3"/>
            </a:solidFill>
            <a:prstDash val="solid"/>
            <a:tailEnd type="triangle"/>
          </a:ln>
        </p:spPr>
      </p:sp>
      <p:sp>
        <p:nvSpPr>
          <p:cNvPr id="28" name="Save arrow 3"/>
          <p:cNvSpPr/>
          <p:nvPr/>
        </p:nvSpPr>
        <p:spPr>
          <a:xfrm>
            <a:off x="5138928" y="4434840"/>
            <a:ext cx="0" cy="411480"/>
          </a:xfrm>
          <a:prstGeom prst="line">
            <a:avLst/>
          </a:prstGeom>
          <a:noFill/>
          <a:ln w="25400">
            <a:solidFill>
              <a:schemeClr val="accent3"/>
            </a:solidFill>
            <a:prstDash val="solid"/>
            <a:tailEnd type="triangle"/>
          </a:ln>
        </p:spPr>
      </p:sp>
      <p:sp>
        <p:nvSpPr>
          <p:cNvPr id="29" name="Flow save"/>
          <p:cNvSpPr txBox="1"/>
          <p:nvPr/>
        </p:nvSpPr>
        <p:spPr>
          <a:xfrm>
            <a:off x="548640" y="4846320"/>
            <a:ext cx="5413248" cy="731520"/>
          </a:xfrm>
          <a:prstGeom prst="roundRect">
            <a:avLst>
              <a:gd name="adj" fmla="val 12500"/>
            </a:avLst>
          </a:prstGeom>
          <a:solidFill>
            <a:schemeClr val="accent3"/>
          </a:solidFill>
          <a:ln/>
        </p:spPr>
        <p:txBody>
          <a:bodyPr wrap="square" lIns="25400" tIns="25400" rIns="25400" bIns="25400" rtlCol="0" anchor="ctr"/>
          <a:lstStyle/>
          <a:p>
            <a:pPr algn="ctr" indent="0" marL="0">
              <a:buNone/>
            </a:pPr>
            <a:r>
              <a:rPr lang="en-US" sz="1600" b="1" dirty="0">
                <a:solidFill>
                  <a:schemeClr val="bg1"/>
                </a:solidFill>
              </a:rPr>
              <a:t>Save changes to students.json</a:t>
            </a:r>
            <a:endParaRPr lang="en-US" sz="1600" dirty="0"/>
          </a:p>
        </p:txBody>
      </p:sp>
      <p:sp>
        <p:nvSpPr>
          <p:cNvPr id="30" name="Read arrow 1"/>
          <p:cNvSpPr/>
          <p:nvPr/>
        </p:nvSpPr>
        <p:spPr>
          <a:xfrm>
            <a:off x="7022592" y="4434840"/>
            <a:ext cx="0" cy="411480"/>
          </a:xfrm>
          <a:prstGeom prst="line">
            <a:avLst/>
          </a:prstGeom>
          <a:noFill/>
          <a:ln w="25400">
            <a:solidFill>
              <a:schemeClr val="accent5"/>
            </a:solidFill>
            <a:prstDash val="solid"/>
            <a:tailEnd type="triangle"/>
          </a:ln>
        </p:spPr>
      </p:sp>
      <p:sp>
        <p:nvSpPr>
          <p:cNvPr id="31" name="Read arrow 2"/>
          <p:cNvSpPr/>
          <p:nvPr/>
        </p:nvSpPr>
        <p:spPr>
          <a:xfrm>
            <a:off x="8906256" y="4434840"/>
            <a:ext cx="0" cy="411480"/>
          </a:xfrm>
          <a:prstGeom prst="line">
            <a:avLst/>
          </a:prstGeom>
          <a:noFill/>
          <a:ln w="25400">
            <a:solidFill>
              <a:schemeClr val="accent5"/>
            </a:solidFill>
            <a:prstDash val="solid"/>
            <a:tailEnd type="triangle"/>
          </a:ln>
        </p:spPr>
      </p:sp>
      <p:sp>
        <p:nvSpPr>
          <p:cNvPr id="32" name="Flow read only"/>
          <p:cNvSpPr txBox="1"/>
          <p:nvPr/>
        </p:nvSpPr>
        <p:spPr>
          <a:xfrm>
            <a:off x="6199632" y="4846320"/>
            <a:ext cx="3529584" cy="731520"/>
          </a:xfrm>
          <a:prstGeom prst="roundRect">
            <a:avLst>
              <a:gd name="adj" fmla="val 12500"/>
            </a:avLst>
          </a:prstGeom>
          <a:solidFill>
            <a:schemeClr val="bg2"/>
          </a:solidFill>
          <a:ln w="19050">
            <a:solidFill>
              <a:schemeClr val="accent5"/>
            </a:solidFill>
          </a:ln>
        </p:spPr>
        <p:txBody>
          <a:bodyPr wrap="square" lIns="25400" tIns="25400" rIns="25400" bIns="25400" rtlCol="0" anchor="ctr"/>
          <a:lstStyle/>
          <a:p>
            <a:pPr algn="ctr" indent="0" marL="0">
              <a:buNone/>
            </a:pPr>
            <a:r>
              <a:rPr lang="en-US" sz="1600" b="1" dirty="0">
                <a:solidFill>
                  <a:schemeClr val="tx2"/>
                </a:solidFill>
              </a:rPr>
              <a:t>Read only - no saving needed</a:t>
            </a:r>
            <a:endParaRPr lang="en-US" sz="1600" dirty="0"/>
          </a:p>
        </p:txBody>
      </p:sp>
      <p:sp>
        <p:nvSpPr>
          <p:cNvPr id="33" name="Exit arrow"/>
          <p:cNvSpPr/>
          <p:nvPr/>
        </p:nvSpPr>
        <p:spPr>
          <a:xfrm>
            <a:off x="10789920" y="4434840"/>
            <a:ext cx="0" cy="411480"/>
          </a:xfrm>
          <a:prstGeom prst="line">
            <a:avLst/>
          </a:prstGeom>
          <a:noFill/>
          <a:ln w="25400">
            <a:solidFill>
              <a:schemeClr val="accent4"/>
            </a:solidFill>
            <a:prstDash val="solid"/>
            <a:tailEnd type="triangle"/>
          </a:ln>
        </p:spPr>
      </p:sp>
      <p:sp>
        <p:nvSpPr>
          <p:cNvPr id="34" name="Flow end"/>
          <p:cNvSpPr txBox="1"/>
          <p:nvPr/>
        </p:nvSpPr>
        <p:spPr>
          <a:xfrm>
            <a:off x="9966960" y="4846320"/>
            <a:ext cx="1645920" cy="731520"/>
          </a:xfrm>
          <a:prstGeom prst="roundRect">
            <a:avLst>
              <a:gd name="adj" fmla="val 50000"/>
            </a:avLst>
          </a:prstGeom>
          <a:solidFill>
            <a:schemeClr val="tx2"/>
          </a:solidFill>
          <a:ln/>
        </p:spPr>
        <p:txBody>
          <a:bodyPr wrap="square" lIns="25400" tIns="25400" rIns="25400" bIns="25400" rtlCol="0" anchor="ctr"/>
          <a:lstStyle/>
          <a:p>
            <a:pPr algn="ctr" indent="0" marL="0">
              <a:buNone/>
            </a:pPr>
            <a:r>
              <a:rPr lang="en-US" sz="1500" b="1" dirty="0">
                <a:solidFill>
                  <a:schemeClr val="bg1"/>
                </a:solidFill>
              </a:rPr>
              <a:t>End of program</a:t>
            </a:r>
            <a:endParaRPr lang="en-US" sz="1500" dirty="0"/>
          </a:p>
        </p:txBody>
      </p:sp>
      <p:pic>
        <p:nvPicPr>
          <p:cNvPr id="35" name="Image 0" descr="Loop icon">    </p:cNvPr>
          <p:cNvPicPr>
            <a:picLocks noChangeAspect="1"/>
          </p:cNvPicPr>
          <p:nvPr/>
        </p:nvPicPr>
        <p:blipFill>
          <a:blip r:embed="rId1"/>
          <a:stretch>
            <a:fillRect/>
          </a:stretch>
        </p:blipFill>
        <p:spPr>
          <a:xfrm>
            <a:off x="548640" y="5852160"/>
            <a:ext cx="292608" cy="292608"/>
          </a:xfrm>
          <a:prstGeom prst="rect">
            <a:avLst/>
          </a:prstGeom>
        </p:spPr>
      </p:pic>
      <p:sp>
        <p:nvSpPr>
          <p:cNvPr id="36" name="Loop note"/>
          <p:cNvSpPr txBox="1"/>
          <p:nvPr/>
        </p:nvSpPr>
        <p:spPr>
          <a:xfrm>
            <a:off x="1005840" y="5833872"/>
            <a:ext cx="9144000" cy="347472"/>
          </a:xfrm>
          <a:prstGeom prst="rect">
            <a:avLst/>
          </a:prstGeom>
          <a:noFill/>
          <a:ln/>
        </p:spPr>
        <p:txBody>
          <a:bodyPr wrap="square" lIns="0" tIns="0" rIns="0" bIns="0" rtlCol="0" anchor="ctr"/>
          <a:lstStyle/>
          <a:p>
            <a:pPr indent="0" marL="0">
              <a:buNone/>
            </a:pPr>
            <a:r>
              <a:rPr lang="en-US" sz="1500" i="1" dirty="0">
                <a:solidFill>
                  <a:schemeClr val="tx1"/>
                </a:solidFill>
              </a:rPr>
              <a:t>After every operation except Exit, control returns to the menu.</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Object-Oriented Concepts Used</a:t>
            </a:r>
            <a:endParaRPr lang="en-US" sz="3400" dirty="0"/>
          </a:p>
        </p:txBody>
      </p:sp>
      <p:sp>
        <p:nvSpPr>
          <p:cNvPr id="3" name="Person box"/>
          <p:cNvSpPr/>
          <p:nvPr/>
        </p:nvSpPr>
        <p:spPr>
          <a:xfrm>
            <a:off x="548640" y="1463040"/>
            <a:ext cx="3291840" cy="1737360"/>
          </a:xfrm>
          <a:prstGeom prst="roundRect">
            <a:avLst>
              <a:gd name="adj" fmla="val 5263"/>
            </a:avLst>
          </a:prstGeom>
          <a:solidFill>
            <a:schemeClr val="bg2"/>
          </a:solidFill>
          <a:ln/>
        </p:spPr>
      </p:sp>
      <p:sp>
        <p:nvSpPr>
          <p:cNvPr id="4" name="Person header"/>
          <p:cNvSpPr txBox="1"/>
          <p:nvPr/>
        </p:nvSpPr>
        <p:spPr>
          <a:xfrm>
            <a:off x="548640" y="1463040"/>
            <a:ext cx="3291840" cy="502920"/>
          </a:xfrm>
          <a:prstGeom prst="roundRect">
            <a:avLst>
              <a:gd name="adj" fmla="val 18182"/>
            </a:avLst>
          </a:prstGeom>
          <a:solidFill>
            <a:schemeClr val="accent1"/>
          </a:solidFill>
          <a:ln/>
        </p:spPr>
        <p:txBody>
          <a:bodyPr wrap="square" lIns="0" tIns="0" rIns="0" bIns="0" rtlCol="0" anchor="ctr"/>
          <a:lstStyle/>
          <a:p>
            <a:pPr algn="ctr" indent="0" marL="0">
              <a:buNone/>
            </a:pPr>
            <a:r>
              <a:rPr lang="en-US" sz="1600" b="1" dirty="0">
                <a:solidFill>
                  <a:schemeClr val="bg1"/>
                </a:solidFill>
              </a:rPr>
              <a:t>Person  (abstract)</a:t>
            </a:r>
            <a:endParaRPr lang="en-US" sz="1600" dirty="0"/>
          </a:p>
        </p:txBody>
      </p:sp>
      <p:sp>
        <p:nvSpPr>
          <p:cNvPr id="5" name="Person body"/>
          <p:cNvSpPr txBox="1"/>
          <p:nvPr/>
        </p:nvSpPr>
        <p:spPr>
          <a:xfrm>
            <a:off x="731520" y="2103120"/>
            <a:ext cx="2971800" cy="1005840"/>
          </a:xfrm>
          <a:prstGeom prst="rect">
            <a:avLst/>
          </a:prstGeom>
          <a:noFill/>
          <a:ln/>
        </p:spPr>
        <p:txBody>
          <a:bodyPr wrap="square" lIns="0" tIns="0" rIns="0" bIns="0" rtlCol="0" anchor="t"/>
          <a:lstStyle/>
          <a:p>
            <a:pPr indent="0" marL="0">
              <a:buNone/>
            </a:pPr>
            <a:r>
              <a:rPr lang="en-US" sz="1400" dirty="0">
                <a:solidFill>
                  <a:schemeClr val="tx1"/>
                </a:solidFill>
              </a:rPr>
              <a:t>name, age</a:t>
            </a:r>
            <a:endParaRPr lang="en-US" sz="1400" dirty="0"/>
          </a:p>
          <a:p>
            <a:pPr indent="0" marL="0">
              <a:buNone/>
            </a:pPr>
            <a:r>
              <a:rPr lang="en-US" sz="1400" dirty="0">
                <a:solidFill>
                  <a:schemeClr val="tx1"/>
                </a:solidFill>
              </a:rPr>
              <a:t>show_details()  - abstract</a:t>
            </a:r>
            <a:endParaRPr lang="en-US" sz="1400" dirty="0"/>
          </a:p>
        </p:txBody>
      </p:sp>
      <p:sp>
        <p:nvSpPr>
          <p:cNvPr id="6" name="Student box"/>
          <p:cNvSpPr/>
          <p:nvPr/>
        </p:nvSpPr>
        <p:spPr>
          <a:xfrm>
            <a:off x="548640" y="4023360"/>
            <a:ext cx="3291840" cy="1737360"/>
          </a:xfrm>
          <a:prstGeom prst="roundRect">
            <a:avLst>
              <a:gd name="adj" fmla="val 5263"/>
            </a:avLst>
          </a:prstGeom>
          <a:solidFill>
            <a:schemeClr val="bg2"/>
          </a:solidFill>
          <a:ln/>
        </p:spPr>
      </p:sp>
      <p:sp>
        <p:nvSpPr>
          <p:cNvPr id="7" name="Student header"/>
          <p:cNvSpPr txBox="1"/>
          <p:nvPr/>
        </p:nvSpPr>
        <p:spPr>
          <a:xfrm>
            <a:off x="548640" y="4023360"/>
            <a:ext cx="3291840" cy="502920"/>
          </a:xfrm>
          <a:prstGeom prst="roundRect">
            <a:avLst>
              <a:gd name="adj" fmla="val 18182"/>
            </a:avLst>
          </a:prstGeom>
          <a:solidFill>
            <a:schemeClr val="accent3"/>
          </a:solidFill>
          <a:ln/>
        </p:spPr>
        <p:txBody>
          <a:bodyPr wrap="square" lIns="0" tIns="0" rIns="0" bIns="0" rtlCol="0" anchor="ctr"/>
          <a:lstStyle/>
          <a:p>
            <a:pPr algn="ctr" indent="0" marL="0">
              <a:buNone/>
            </a:pPr>
            <a:r>
              <a:rPr lang="en-US" sz="1600" b="1" dirty="0">
                <a:solidFill>
                  <a:schemeClr val="bg1"/>
                </a:solidFill>
              </a:rPr>
              <a:t>Student</a:t>
            </a:r>
            <a:endParaRPr lang="en-US" sz="1600" dirty="0"/>
          </a:p>
        </p:txBody>
      </p:sp>
      <p:sp>
        <p:nvSpPr>
          <p:cNvPr id="8" name="Student body"/>
          <p:cNvSpPr txBox="1"/>
          <p:nvPr/>
        </p:nvSpPr>
        <p:spPr>
          <a:xfrm>
            <a:off x="731520" y="4663440"/>
            <a:ext cx="2971800" cy="1005840"/>
          </a:xfrm>
          <a:prstGeom prst="rect">
            <a:avLst/>
          </a:prstGeom>
          <a:noFill/>
          <a:ln/>
        </p:spPr>
        <p:txBody>
          <a:bodyPr wrap="square" lIns="0" tIns="0" rIns="0" bIns="0" rtlCol="0" anchor="t"/>
          <a:lstStyle/>
          <a:p>
            <a:pPr indent="0" marL="0">
              <a:buNone/>
            </a:pPr>
            <a:r>
              <a:rPr lang="en-US" sz="1400" dirty="0">
                <a:solidFill>
                  <a:schemeClr val="tx1"/>
                </a:solidFill>
              </a:rPr>
              <a:t>marks  (private __marks)</a:t>
            </a:r>
            <a:endParaRPr lang="en-US" sz="1400" dirty="0"/>
          </a:p>
          <a:p>
            <a:pPr indent="0" marL="0">
              <a:buNone/>
            </a:pPr>
            <a:r>
              <a:rPr lang="en-US" sz="1400" dirty="0">
                <a:solidFill>
                  <a:schemeClr val="tx1"/>
                </a:solidFill>
              </a:rPr>
              <a:t>show_details()  - overrides</a:t>
            </a:r>
            <a:endParaRPr lang="en-US" sz="1400" dirty="0"/>
          </a:p>
        </p:txBody>
      </p:sp>
      <p:sp>
        <p:nvSpPr>
          <p:cNvPr id="9" name="SMS box"/>
          <p:cNvSpPr/>
          <p:nvPr/>
        </p:nvSpPr>
        <p:spPr>
          <a:xfrm>
            <a:off x="4206240" y="4023360"/>
            <a:ext cx="2514600" cy="1737360"/>
          </a:xfrm>
          <a:prstGeom prst="roundRect">
            <a:avLst>
              <a:gd name="adj" fmla="val 5263"/>
            </a:avLst>
          </a:prstGeom>
          <a:solidFill>
            <a:schemeClr val="bg2"/>
          </a:solidFill>
          <a:ln/>
        </p:spPr>
      </p:sp>
      <p:sp>
        <p:nvSpPr>
          <p:cNvPr id="10" name="SMS header"/>
          <p:cNvSpPr txBox="1"/>
          <p:nvPr/>
        </p:nvSpPr>
        <p:spPr>
          <a:xfrm>
            <a:off x="4206240" y="4023360"/>
            <a:ext cx="251460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400" b="1" dirty="0">
                <a:solidFill>
                  <a:schemeClr val="bg1"/>
                </a:solidFill>
              </a:rPr>
              <a:t>StudentManagementSystem</a:t>
            </a:r>
            <a:endParaRPr lang="en-US" sz="1400" dirty="0"/>
          </a:p>
        </p:txBody>
      </p:sp>
      <p:sp>
        <p:nvSpPr>
          <p:cNvPr id="11" name="SMS body"/>
          <p:cNvSpPr txBox="1"/>
          <p:nvPr/>
        </p:nvSpPr>
        <p:spPr>
          <a:xfrm>
            <a:off x="4389120" y="4663440"/>
            <a:ext cx="2194560" cy="1005840"/>
          </a:xfrm>
          <a:prstGeom prst="rect">
            <a:avLst/>
          </a:prstGeom>
          <a:noFill/>
          <a:ln/>
        </p:spPr>
        <p:txBody>
          <a:bodyPr wrap="square" lIns="0" tIns="0" rIns="0" bIns="0" rtlCol="0" anchor="t"/>
          <a:lstStyle/>
          <a:p>
            <a:pPr indent="0" marL="0">
              <a:buNone/>
            </a:pPr>
            <a:r>
              <a:rPr lang="en-US" sz="1400" dirty="0">
                <a:solidFill>
                  <a:schemeClr val="tx1"/>
                </a:solidFill>
              </a:rPr>
              <a:t>students (list)</a:t>
            </a:r>
            <a:endParaRPr lang="en-US" sz="1400" dirty="0"/>
          </a:p>
          <a:p>
            <a:pPr indent="0" marL="0">
              <a:buNone/>
            </a:pPr>
            <a:r>
              <a:rPr lang="en-US" sz="1400" dirty="0">
                <a:solidFill>
                  <a:schemeClr val="tx1"/>
                </a:solidFill>
              </a:rPr>
              <a:t>add, show, search</a:t>
            </a:r>
            <a:endParaRPr lang="en-US" sz="1400" dirty="0"/>
          </a:p>
          <a:p>
            <a:pPr indent="0" marL="0">
              <a:buNone/>
            </a:pPr>
            <a:r>
              <a:rPr lang="en-US" sz="1400" dirty="0">
                <a:solidFill>
                  <a:schemeClr val="tx1"/>
                </a:solidFill>
              </a:rPr>
              <a:t>update, delete</a:t>
            </a:r>
            <a:endParaRPr lang="en-US" sz="1400" dirty="0"/>
          </a:p>
          <a:p>
            <a:pPr indent="0" marL="0">
              <a:buNone/>
            </a:pPr>
            <a:r>
              <a:rPr lang="en-US" sz="1400" dirty="0">
                <a:solidFill>
                  <a:schemeClr val="tx1"/>
                </a:solidFill>
              </a:rPr>
              <a:t>load, save</a:t>
            </a:r>
            <a:endParaRPr lang="en-US" sz="1400" dirty="0"/>
          </a:p>
        </p:txBody>
      </p:sp>
      <p:sp>
        <p:nvSpPr>
          <p:cNvPr id="12" name="Inheritance arrow"/>
          <p:cNvSpPr/>
          <p:nvPr/>
        </p:nvSpPr>
        <p:spPr>
          <a:xfrm>
            <a:off x="2194560" y="3200400"/>
            <a:ext cx="0" cy="822960"/>
          </a:xfrm>
          <a:prstGeom prst="line">
            <a:avLst/>
          </a:prstGeom>
          <a:noFill/>
          <a:ln w="25400">
            <a:solidFill>
              <a:schemeClr val="accent1"/>
            </a:solidFill>
            <a:prstDash val="solid"/>
            <a:headEnd type="triangle"/>
          </a:ln>
        </p:spPr>
      </p:sp>
      <p:sp>
        <p:nvSpPr>
          <p:cNvPr id="13" name="Inherits label"/>
          <p:cNvSpPr txBox="1"/>
          <p:nvPr/>
        </p:nvSpPr>
        <p:spPr>
          <a:xfrm>
            <a:off x="2377440" y="3456432"/>
            <a:ext cx="1280160" cy="320040"/>
          </a:xfrm>
          <a:prstGeom prst="rect">
            <a:avLst/>
          </a:prstGeom>
          <a:noFill/>
          <a:ln/>
        </p:spPr>
        <p:txBody>
          <a:bodyPr wrap="square" lIns="0" tIns="0" rIns="0" bIns="0" rtlCol="0" anchor="t"/>
          <a:lstStyle/>
          <a:p>
            <a:pPr indent="0" marL="0">
              <a:buNone/>
            </a:pPr>
            <a:r>
              <a:rPr lang="en-US" sz="1400" i="1" dirty="0">
                <a:solidFill>
                  <a:schemeClr val="accent1"/>
                </a:solidFill>
              </a:rPr>
              <a:t>inherits</a:t>
            </a:r>
            <a:endParaRPr lang="en-US" sz="1400" dirty="0"/>
          </a:p>
        </p:txBody>
      </p:sp>
      <p:sp>
        <p:nvSpPr>
          <p:cNvPr id="14" name="Manages arrow"/>
          <p:cNvSpPr/>
          <p:nvPr/>
        </p:nvSpPr>
        <p:spPr>
          <a:xfrm>
            <a:off x="3840480" y="4892040"/>
            <a:ext cx="365760" cy="0"/>
          </a:xfrm>
          <a:prstGeom prst="line">
            <a:avLst/>
          </a:prstGeom>
          <a:noFill/>
          <a:ln w="25400">
            <a:solidFill>
              <a:schemeClr val="tx2"/>
            </a:solidFill>
            <a:prstDash val="solid"/>
            <a:headEnd type="triangle"/>
          </a:ln>
        </p:spPr>
      </p:sp>
      <p:sp>
        <p:nvSpPr>
          <p:cNvPr id="15" name="OOP row 1"/>
          <p:cNvSpPr/>
          <p:nvPr/>
        </p:nvSpPr>
        <p:spPr>
          <a:xfrm>
            <a:off x="6903720" y="1463040"/>
            <a:ext cx="4709160" cy="804672"/>
          </a:xfrm>
          <a:prstGeom prst="roundRect">
            <a:avLst>
              <a:gd name="adj" fmla="val 13636"/>
            </a:avLst>
          </a:prstGeom>
          <a:solidFill>
            <a:schemeClr val="bg2"/>
          </a:solidFill>
          <a:ln/>
        </p:spPr>
      </p:sp>
      <p:sp>
        <p:nvSpPr>
          <p:cNvPr id="16" name="OOP 1 circle"/>
          <p:cNvSpPr/>
          <p:nvPr/>
        </p:nvSpPr>
        <p:spPr>
          <a:xfrm>
            <a:off x="7059168" y="1591056"/>
            <a:ext cx="548640" cy="548640"/>
          </a:xfrm>
          <a:prstGeom prst="ellipse">
            <a:avLst/>
          </a:prstGeom>
          <a:solidFill>
            <a:schemeClr val="accent1"/>
          </a:solidFill>
          <a:ln/>
        </p:spPr>
      </p:sp>
      <p:pic>
        <p:nvPicPr>
          <p:cNvPr id="17" name="Image 0" descr="OOP 1 icon">    </p:cNvPr>
          <p:cNvPicPr>
            <a:picLocks noChangeAspect="1"/>
          </p:cNvPicPr>
          <p:nvPr/>
        </p:nvPicPr>
        <p:blipFill>
          <a:blip r:embed="rId1"/>
          <a:stretch>
            <a:fillRect/>
          </a:stretch>
        </p:blipFill>
        <p:spPr>
          <a:xfrm>
            <a:off x="7190842" y="1722730"/>
            <a:ext cx="285293" cy="285293"/>
          </a:xfrm>
          <a:prstGeom prst="rect">
            <a:avLst/>
          </a:prstGeom>
        </p:spPr>
      </p:pic>
      <p:sp>
        <p:nvSpPr>
          <p:cNvPr id="18" name="OOP name 1"/>
          <p:cNvSpPr txBox="1"/>
          <p:nvPr/>
        </p:nvSpPr>
        <p:spPr>
          <a:xfrm>
            <a:off x="7772400" y="1554480"/>
            <a:ext cx="3749040" cy="292608"/>
          </a:xfrm>
          <a:prstGeom prst="rect">
            <a:avLst/>
          </a:prstGeom>
          <a:noFill/>
          <a:ln/>
        </p:spPr>
        <p:txBody>
          <a:bodyPr wrap="square" lIns="0" tIns="0" rIns="0" bIns="0" rtlCol="0" anchor="t"/>
          <a:lstStyle/>
          <a:p>
            <a:pPr indent="0" marL="0">
              <a:buNone/>
            </a:pPr>
            <a:r>
              <a:rPr lang="en-US" sz="1600" b="1" dirty="0">
                <a:solidFill>
                  <a:schemeClr val="tx2"/>
                </a:solidFill>
              </a:rPr>
              <a:t>Abstraction</a:t>
            </a:r>
            <a:endParaRPr lang="en-US" sz="1600" dirty="0"/>
          </a:p>
        </p:txBody>
      </p:sp>
      <p:sp>
        <p:nvSpPr>
          <p:cNvPr id="19" name="OOP desc 1"/>
          <p:cNvSpPr txBox="1"/>
          <p:nvPr/>
        </p:nvSpPr>
        <p:spPr>
          <a:xfrm>
            <a:off x="7772400" y="1874520"/>
            <a:ext cx="3749040" cy="292608"/>
          </a:xfrm>
          <a:prstGeom prst="rect">
            <a:avLst/>
          </a:prstGeom>
          <a:noFill/>
          <a:ln/>
        </p:spPr>
        <p:txBody>
          <a:bodyPr wrap="square" lIns="0" tIns="0" rIns="0" bIns="0" rtlCol="0" anchor="t"/>
          <a:lstStyle/>
          <a:p>
            <a:pPr indent="0" marL="0">
              <a:buNone/>
            </a:pPr>
            <a:r>
              <a:rPr lang="en-US" sz="1400" dirty="0">
                <a:solidFill>
                  <a:schemeClr val="tx1"/>
                </a:solidFill>
              </a:rPr>
              <a:t>Person is an abstract base class</a:t>
            </a:r>
            <a:endParaRPr lang="en-US" sz="1400" dirty="0"/>
          </a:p>
        </p:txBody>
      </p:sp>
      <p:sp>
        <p:nvSpPr>
          <p:cNvPr id="20" name="OOP row 2"/>
          <p:cNvSpPr/>
          <p:nvPr/>
        </p:nvSpPr>
        <p:spPr>
          <a:xfrm>
            <a:off x="6903720" y="2377440"/>
            <a:ext cx="4709160" cy="804672"/>
          </a:xfrm>
          <a:prstGeom prst="roundRect">
            <a:avLst>
              <a:gd name="adj" fmla="val 13636"/>
            </a:avLst>
          </a:prstGeom>
          <a:solidFill>
            <a:schemeClr val="bg2"/>
          </a:solidFill>
          <a:ln/>
        </p:spPr>
      </p:sp>
      <p:sp>
        <p:nvSpPr>
          <p:cNvPr id="21" name="OOP 2 circle"/>
          <p:cNvSpPr/>
          <p:nvPr/>
        </p:nvSpPr>
        <p:spPr>
          <a:xfrm>
            <a:off x="7059168" y="2505456"/>
            <a:ext cx="548640" cy="548640"/>
          </a:xfrm>
          <a:prstGeom prst="ellipse">
            <a:avLst/>
          </a:prstGeom>
          <a:solidFill>
            <a:schemeClr val="accent3"/>
          </a:solidFill>
          <a:ln/>
        </p:spPr>
      </p:sp>
      <p:pic>
        <p:nvPicPr>
          <p:cNvPr id="22" name="Image 1" descr="OOP 2 icon">    </p:cNvPr>
          <p:cNvPicPr>
            <a:picLocks noChangeAspect="1"/>
          </p:cNvPicPr>
          <p:nvPr/>
        </p:nvPicPr>
        <p:blipFill>
          <a:blip r:embed="rId2"/>
          <a:stretch>
            <a:fillRect/>
          </a:stretch>
        </p:blipFill>
        <p:spPr>
          <a:xfrm>
            <a:off x="7190842" y="2637130"/>
            <a:ext cx="285293" cy="285293"/>
          </a:xfrm>
          <a:prstGeom prst="rect">
            <a:avLst/>
          </a:prstGeom>
        </p:spPr>
      </p:pic>
      <p:sp>
        <p:nvSpPr>
          <p:cNvPr id="23" name="OOP name 2"/>
          <p:cNvSpPr txBox="1"/>
          <p:nvPr/>
        </p:nvSpPr>
        <p:spPr>
          <a:xfrm>
            <a:off x="7772400" y="2468880"/>
            <a:ext cx="3749040" cy="292608"/>
          </a:xfrm>
          <a:prstGeom prst="rect">
            <a:avLst/>
          </a:prstGeom>
          <a:noFill/>
          <a:ln/>
        </p:spPr>
        <p:txBody>
          <a:bodyPr wrap="square" lIns="0" tIns="0" rIns="0" bIns="0" rtlCol="0" anchor="t"/>
          <a:lstStyle/>
          <a:p>
            <a:pPr indent="0" marL="0">
              <a:buNone/>
            </a:pPr>
            <a:r>
              <a:rPr lang="en-US" sz="1600" b="1" dirty="0">
                <a:solidFill>
                  <a:schemeClr val="tx2"/>
                </a:solidFill>
              </a:rPr>
              <a:t>Inheritance</a:t>
            </a:r>
            <a:endParaRPr lang="en-US" sz="1600" dirty="0"/>
          </a:p>
        </p:txBody>
      </p:sp>
      <p:sp>
        <p:nvSpPr>
          <p:cNvPr id="24" name="OOP desc 2"/>
          <p:cNvSpPr txBox="1"/>
          <p:nvPr/>
        </p:nvSpPr>
        <p:spPr>
          <a:xfrm>
            <a:off x="7772400" y="2788920"/>
            <a:ext cx="3749040" cy="292608"/>
          </a:xfrm>
          <a:prstGeom prst="rect">
            <a:avLst/>
          </a:prstGeom>
          <a:noFill/>
          <a:ln/>
        </p:spPr>
        <p:txBody>
          <a:bodyPr wrap="square" lIns="0" tIns="0" rIns="0" bIns="0" rtlCol="0" anchor="t"/>
          <a:lstStyle/>
          <a:p>
            <a:pPr indent="0" marL="0">
              <a:buNone/>
            </a:pPr>
            <a:r>
              <a:rPr lang="en-US" sz="1400" dirty="0">
                <a:solidFill>
                  <a:schemeClr val="tx1"/>
                </a:solidFill>
              </a:rPr>
              <a:t>Student inherits from Person</a:t>
            </a:r>
            <a:endParaRPr lang="en-US" sz="1400" dirty="0"/>
          </a:p>
        </p:txBody>
      </p:sp>
      <p:sp>
        <p:nvSpPr>
          <p:cNvPr id="25" name="OOP row 3"/>
          <p:cNvSpPr/>
          <p:nvPr/>
        </p:nvSpPr>
        <p:spPr>
          <a:xfrm>
            <a:off x="6903720" y="3291840"/>
            <a:ext cx="4709160" cy="804672"/>
          </a:xfrm>
          <a:prstGeom prst="roundRect">
            <a:avLst>
              <a:gd name="adj" fmla="val 13636"/>
            </a:avLst>
          </a:prstGeom>
          <a:solidFill>
            <a:schemeClr val="bg2"/>
          </a:solidFill>
          <a:ln/>
        </p:spPr>
      </p:sp>
      <p:sp>
        <p:nvSpPr>
          <p:cNvPr id="26" name="OOP 3 circle"/>
          <p:cNvSpPr/>
          <p:nvPr/>
        </p:nvSpPr>
        <p:spPr>
          <a:xfrm>
            <a:off x="7059168" y="3419856"/>
            <a:ext cx="548640" cy="548640"/>
          </a:xfrm>
          <a:prstGeom prst="ellipse">
            <a:avLst/>
          </a:prstGeom>
          <a:solidFill>
            <a:schemeClr val="accent4"/>
          </a:solidFill>
          <a:ln/>
        </p:spPr>
      </p:sp>
      <p:pic>
        <p:nvPicPr>
          <p:cNvPr id="27" name="Image 2" descr="OOP 3 icon">    </p:cNvPr>
          <p:cNvPicPr>
            <a:picLocks noChangeAspect="1"/>
          </p:cNvPicPr>
          <p:nvPr/>
        </p:nvPicPr>
        <p:blipFill>
          <a:blip r:embed="rId3"/>
          <a:stretch>
            <a:fillRect/>
          </a:stretch>
        </p:blipFill>
        <p:spPr>
          <a:xfrm>
            <a:off x="7190842" y="3551530"/>
            <a:ext cx="285293" cy="285293"/>
          </a:xfrm>
          <a:prstGeom prst="rect">
            <a:avLst/>
          </a:prstGeom>
        </p:spPr>
      </p:pic>
      <p:sp>
        <p:nvSpPr>
          <p:cNvPr id="28" name="OOP name 3"/>
          <p:cNvSpPr txBox="1"/>
          <p:nvPr/>
        </p:nvSpPr>
        <p:spPr>
          <a:xfrm>
            <a:off x="7772400" y="3383280"/>
            <a:ext cx="3749040" cy="292608"/>
          </a:xfrm>
          <a:prstGeom prst="rect">
            <a:avLst/>
          </a:prstGeom>
          <a:noFill/>
          <a:ln/>
        </p:spPr>
        <p:txBody>
          <a:bodyPr wrap="square" lIns="0" tIns="0" rIns="0" bIns="0" rtlCol="0" anchor="t"/>
          <a:lstStyle/>
          <a:p>
            <a:pPr indent="0" marL="0">
              <a:buNone/>
            </a:pPr>
            <a:r>
              <a:rPr lang="en-US" sz="1600" b="1" dirty="0">
                <a:solidFill>
                  <a:schemeClr val="tx2"/>
                </a:solidFill>
              </a:rPr>
              <a:t>Encapsulation</a:t>
            </a:r>
            <a:endParaRPr lang="en-US" sz="1600" dirty="0"/>
          </a:p>
        </p:txBody>
      </p:sp>
      <p:sp>
        <p:nvSpPr>
          <p:cNvPr id="29" name="OOP desc 3"/>
          <p:cNvSpPr txBox="1"/>
          <p:nvPr/>
        </p:nvSpPr>
        <p:spPr>
          <a:xfrm>
            <a:off x="7772400" y="3703320"/>
            <a:ext cx="3749040" cy="292608"/>
          </a:xfrm>
          <a:prstGeom prst="rect">
            <a:avLst/>
          </a:prstGeom>
          <a:noFill/>
          <a:ln/>
        </p:spPr>
        <p:txBody>
          <a:bodyPr wrap="square" lIns="0" tIns="0" rIns="0" bIns="0" rtlCol="0" anchor="t"/>
          <a:lstStyle/>
          <a:p>
            <a:pPr indent="0" marL="0">
              <a:buNone/>
            </a:pPr>
            <a:r>
              <a:rPr lang="en-US" sz="1400" dirty="0">
                <a:solidFill>
                  <a:schemeClr val="tx1"/>
                </a:solidFill>
              </a:rPr>
              <a:t>Marks stored as private __marks</a:t>
            </a:r>
            <a:endParaRPr lang="en-US" sz="1400" dirty="0"/>
          </a:p>
        </p:txBody>
      </p:sp>
      <p:sp>
        <p:nvSpPr>
          <p:cNvPr id="30" name="OOP row 4"/>
          <p:cNvSpPr/>
          <p:nvPr/>
        </p:nvSpPr>
        <p:spPr>
          <a:xfrm>
            <a:off x="6903720" y="4206240"/>
            <a:ext cx="4709160" cy="804672"/>
          </a:xfrm>
          <a:prstGeom prst="roundRect">
            <a:avLst>
              <a:gd name="adj" fmla="val 13636"/>
            </a:avLst>
          </a:prstGeom>
          <a:solidFill>
            <a:schemeClr val="bg2"/>
          </a:solidFill>
          <a:ln/>
        </p:spPr>
      </p:sp>
      <p:sp>
        <p:nvSpPr>
          <p:cNvPr id="31" name="OOP 4 circle"/>
          <p:cNvSpPr/>
          <p:nvPr/>
        </p:nvSpPr>
        <p:spPr>
          <a:xfrm>
            <a:off x="7059168" y="4334256"/>
            <a:ext cx="548640" cy="548640"/>
          </a:xfrm>
          <a:prstGeom prst="ellipse">
            <a:avLst/>
          </a:prstGeom>
          <a:solidFill>
            <a:schemeClr val="accent5"/>
          </a:solidFill>
          <a:ln/>
        </p:spPr>
      </p:sp>
      <p:pic>
        <p:nvPicPr>
          <p:cNvPr id="32" name="Image 3" descr="OOP 4 icon">    </p:cNvPr>
          <p:cNvPicPr>
            <a:picLocks noChangeAspect="1"/>
          </p:cNvPicPr>
          <p:nvPr/>
        </p:nvPicPr>
        <p:blipFill>
          <a:blip r:embed="rId4"/>
          <a:stretch>
            <a:fillRect/>
          </a:stretch>
        </p:blipFill>
        <p:spPr>
          <a:xfrm>
            <a:off x="7190842" y="4465930"/>
            <a:ext cx="285293" cy="285293"/>
          </a:xfrm>
          <a:prstGeom prst="rect">
            <a:avLst/>
          </a:prstGeom>
        </p:spPr>
      </p:pic>
      <p:sp>
        <p:nvSpPr>
          <p:cNvPr id="33" name="OOP name 4"/>
          <p:cNvSpPr txBox="1"/>
          <p:nvPr/>
        </p:nvSpPr>
        <p:spPr>
          <a:xfrm>
            <a:off x="7772400" y="4297680"/>
            <a:ext cx="3749040" cy="292608"/>
          </a:xfrm>
          <a:prstGeom prst="rect">
            <a:avLst/>
          </a:prstGeom>
          <a:noFill/>
          <a:ln/>
        </p:spPr>
        <p:txBody>
          <a:bodyPr wrap="square" lIns="0" tIns="0" rIns="0" bIns="0" rtlCol="0" anchor="t"/>
          <a:lstStyle/>
          <a:p>
            <a:pPr indent="0" marL="0">
              <a:buNone/>
            </a:pPr>
            <a:r>
              <a:rPr lang="en-US" sz="1600" b="1" dirty="0">
                <a:solidFill>
                  <a:schemeClr val="tx2"/>
                </a:solidFill>
              </a:rPr>
              <a:t>Constructors</a:t>
            </a:r>
            <a:endParaRPr lang="en-US" sz="1600" dirty="0"/>
          </a:p>
        </p:txBody>
      </p:sp>
      <p:sp>
        <p:nvSpPr>
          <p:cNvPr id="34" name="OOP desc 4"/>
          <p:cNvSpPr txBox="1"/>
          <p:nvPr/>
        </p:nvSpPr>
        <p:spPr>
          <a:xfrm>
            <a:off x="7772400" y="4617720"/>
            <a:ext cx="3749040" cy="292608"/>
          </a:xfrm>
          <a:prstGeom prst="rect">
            <a:avLst/>
          </a:prstGeom>
          <a:noFill/>
          <a:ln/>
        </p:spPr>
        <p:txBody>
          <a:bodyPr wrap="square" lIns="0" tIns="0" rIns="0" bIns="0" rtlCol="0" anchor="t"/>
          <a:lstStyle/>
          <a:p>
            <a:pPr indent="0" marL="0">
              <a:buNone/>
            </a:pPr>
            <a:r>
              <a:rPr lang="en-US" sz="1400" dirty="0">
                <a:solidFill>
                  <a:schemeClr val="tx1"/>
                </a:solidFill>
              </a:rPr>
              <a:t>__init__() with a super() call</a:t>
            </a:r>
            <a:endParaRPr lang="en-US" sz="1400" dirty="0"/>
          </a:p>
        </p:txBody>
      </p:sp>
      <p:sp>
        <p:nvSpPr>
          <p:cNvPr id="35" name="OOP row 5"/>
          <p:cNvSpPr/>
          <p:nvPr/>
        </p:nvSpPr>
        <p:spPr>
          <a:xfrm>
            <a:off x="6903720" y="5120640"/>
            <a:ext cx="4709160" cy="804672"/>
          </a:xfrm>
          <a:prstGeom prst="roundRect">
            <a:avLst>
              <a:gd name="adj" fmla="val 13636"/>
            </a:avLst>
          </a:prstGeom>
          <a:solidFill>
            <a:schemeClr val="bg2"/>
          </a:solidFill>
          <a:ln/>
        </p:spPr>
      </p:sp>
      <p:sp>
        <p:nvSpPr>
          <p:cNvPr id="36" name="OOP 5 circle"/>
          <p:cNvSpPr/>
          <p:nvPr/>
        </p:nvSpPr>
        <p:spPr>
          <a:xfrm>
            <a:off x="7059168" y="5248656"/>
            <a:ext cx="548640" cy="548640"/>
          </a:xfrm>
          <a:prstGeom prst="ellipse">
            <a:avLst/>
          </a:prstGeom>
          <a:solidFill>
            <a:schemeClr val="tx2"/>
          </a:solidFill>
          <a:ln/>
        </p:spPr>
      </p:sp>
      <p:pic>
        <p:nvPicPr>
          <p:cNvPr id="37" name="Image 4" descr="OOP 5 icon">    </p:cNvPr>
          <p:cNvPicPr>
            <a:picLocks noChangeAspect="1"/>
          </p:cNvPicPr>
          <p:nvPr/>
        </p:nvPicPr>
        <p:blipFill>
          <a:blip r:embed="rId5"/>
          <a:stretch>
            <a:fillRect/>
          </a:stretch>
        </p:blipFill>
        <p:spPr>
          <a:xfrm>
            <a:off x="7190842" y="5380330"/>
            <a:ext cx="285293" cy="285293"/>
          </a:xfrm>
          <a:prstGeom prst="rect">
            <a:avLst/>
          </a:prstGeom>
        </p:spPr>
      </p:pic>
      <p:sp>
        <p:nvSpPr>
          <p:cNvPr id="38" name="OOP name 5"/>
          <p:cNvSpPr txBox="1"/>
          <p:nvPr/>
        </p:nvSpPr>
        <p:spPr>
          <a:xfrm>
            <a:off x="7772400" y="5212080"/>
            <a:ext cx="3749040" cy="292608"/>
          </a:xfrm>
          <a:prstGeom prst="rect">
            <a:avLst/>
          </a:prstGeom>
          <a:noFill/>
          <a:ln/>
        </p:spPr>
        <p:txBody>
          <a:bodyPr wrap="square" lIns="0" tIns="0" rIns="0" bIns="0" rtlCol="0" anchor="t"/>
          <a:lstStyle/>
          <a:p>
            <a:pPr indent="0" marL="0">
              <a:buNone/>
            </a:pPr>
            <a:r>
              <a:rPr lang="en-US" sz="1600" b="1" dirty="0">
                <a:solidFill>
                  <a:schemeClr val="tx2"/>
                </a:solidFill>
              </a:rPr>
              <a:t>Method overriding</a:t>
            </a:r>
            <a:endParaRPr lang="en-US" sz="1600" dirty="0"/>
          </a:p>
        </p:txBody>
      </p:sp>
      <p:sp>
        <p:nvSpPr>
          <p:cNvPr id="39" name="OOP desc 5"/>
          <p:cNvSpPr txBox="1"/>
          <p:nvPr/>
        </p:nvSpPr>
        <p:spPr>
          <a:xfrm>
            <a:off x="7772400" y="5532120"/>
            <a:ext cx="3749040" cy="292608"/>
          </a:xfrm>
          <a:prstGeom prst="rect">
            <a:avLst/>
          </a:prstGeom>
          <a:noFill/>
          <a:ln/>
        </p:spPr>
        <p:txBody>
          <a:bodyPr wrap="square" lIns="0" tIns="0" rIns="0" bIns="0" rtlCol="0" anchor="t"/>
          <a:lstStyle/>
          <a:p>
            <a:pPr indent="0" marL="0">
              <a:buNone/>
            </a:pPr>
            <a:r>
              <a:rPr lang="en-US" sz="1400" dirty="0">
                <a:solidFill>
                  <a:schemeClr val="tx1"/>
                </a:solidFill>
              </a:rPr>
              <a:t>Student implements show_details()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Data Storage with JSON</a:t>
            </a:r>
            <a:endParaRPr lang="en-US" sz="3400" dirty="0"/>
          </a:p>
        </p:txBody>
      </p:sp>
      <p:sp>
        <p:nvSpPr>
          <p:cNvPr id="3" name="Memory node"/>
          <p:cNvSpPr/>
          <p:nvPr/>
        </p:nvSpPr>
        <p:spPr>
          <a:xfrm>
            <a:off x="548640" y="1463040"/>
            <a:ext cx="3566160" cy="1645920"/>
          </a:xfrm>
          <a:prstGeom prst="roundRect">
            <a:avLst>
              <a:gd name="adj" fmla="val 8333"/>
            </a:avLst>
          </a:prstGeom>
          <a:solidFill>
            <a:schemeClr val="tx2"/>
          </a:solidFill>
          <a:ln/>
        </p:spPr>
      </p:sp>
      <p:sp>
        <p:nvSpPr>
          <p:cNvPr id="4" name="Memory circle"/>
          <p:cNvSpPr/>
          <p:nvPr/>
        </p:nvSpPr>
        <p:spPr>
          <a:xfrm>
            <a:off x="822960" y="1783080"/>
            <a:ext cx="640080" cy="640080"/>
          </a:xfrm>
          <a:prstGeom prst="ellipse">
            <a:avLst/>
          </a:prstGeom>
          <a:solidFill>
            <a:schemeClr val="accent1"/>
          </a:solidFill>
          <a:ln/>
        </p:spPr>
      </p:sp>
      <p:pic>
        <p:nvPicPr>
          <p:cNvPr id="5" name="Image 0" descr="Memory icon">    </p:cNvPr>
          <p:cNvPicPr>
            <a:picLocks noChangeAspect="1"/>
          </p:cNvPicPr>
          <p:nvPr/>
        </p:nvPicPr>
        <p:blipFill>
          <a:blip r:embed="rId1"/>
          <a:stretch>
            <a:fillRect/>
          </a:stretch>
        </p:blipFill>
        <p:spPr>
          <a:xfrm>
            <a:off x="976579" y="1936699"/>
            <a:ext cx="332842" cy="332842"/>
          </a:xfrm>
          <a:prstGeom prst="rect">
            <a:avLst/>
          </a:prstGeom>
        </p:spPr>
      </p:pic>
      <p:sp>
        <p:nvSpPr>
          <p:cNvPr id="6" name="Memory title"/>
          <p:cNvSpPr txBox="1"/>
          <p:nvPr/>
        </p:nvSpPr>
        <p:spPr>
          <a:xfrm>
            <a:off x="1645920" y="1783080"/>
            <a:ext cx="2377440" cy="365760"/>
          </a:xfrm>
          <a:prstGeom prst="rect">
            <a:avLst/>
          </a:prstGeom>
          <a:noFill/>
          <a:ln/>
        </p:spPr>
        <p:txBody>
          <a:bodyPr wrap="square" lIns="0" tIns="0" rIns="0" bIns="0" rtlCol="0" anchor="t"/>
          <a:lstStyle/>
          <a:p>
            <a:pPr indent="0" marL="0">
              <a:buNone/>
            </a:pPr>
            <a:r>
              <a:rPr lang="en-US" sz="1800" b="1" dirty="0">
                <a:solidFill>
                  <a:schemeClr val="bg1"/>
                </a:solidFill>
              </a:rPr>
              <a:t>Program memory</a:t>
            </a:r>
            <a:endParaRPr lang="en-US" sz="1800" dirty="0"/>
          </a:p>
        </p:txBody>
      </p:sp>
      <p:sp>
        <p:nvSpPr>
          <p:cNvPr id="7" name="Memory sub"/>
          <p:cNvSpPr txBox="1"/>
          <p:nvPr/>
        </p:nvSpPr>
        <p:spPr>
          <a:xfrm>
            <a:off x="1645920" y="2194560"/>
            <a:ext cx="2377440" cy="640080"/>
          </a:xfrm>
          <a:prstGeom prst="rect">
            <a:avLst/>
          </a:prstGeom>
          <a:noFill/>
          <a:ln/>
        </p:spPr>
        <p:txBody>
          <a:bodyPr wrap="square" lIns="0" tIns="0" rIns="0" bIns="0" rtlCol="0" anchor="t"/>
          <a:lstStyle/>
          <a:p>
            <a:pPr indent="0" marL="0">
              <a:buNone/>
            </a:pPr>
            <a:r>
              <a:rPr lang="en-US" sz="1500" dirty="0">
                <a:solidFill>
                  <a:schemeClr val="bg1"/>
                </a:solidFill>
              </a:rPr>
              <a:t>List of student records</a:t>
            </a:r>
            <a:endParaRPr lang="en-US" sz="1500" dirty="0"/>
          </a:p>
        </p:txBody>
      </p:sp>
      <p:sp>
        <p:nvSpPr>
          <p:cNvPr id="8" name="Save arrow"/>
          <p:cNvSpPr txBox="1"/>
          <p:nvPr/>
        </p:nvSpPr>
        <p:spPr>
          <a:xfrm>
            <a:off x="4297680" y="1508760"/>
            <a:ext cx="3611880" cy="731520"/>
          </a:xfrm>
          <a:prstGeom prst="rightArrow">
            <a:avLst/>
          </a:prstGeom>
          <a:solidFill>
            <a:schemeClr val="accent1"/>
          </a:solidFill>
          <a:ln/>
        </p:spPr>
        <p:txBody>
          <a:bodyPr wrap="square" lIns="0" tIns="0" rIns="0" bIns="0" rtlCol="0" anchor="ctr"/>
          <a:lstStyle/>
          <a:p>
            <a:pPr algn="ctr" indent="0" marL="0">
              <a:buNone/>
            </a:pPr>
            <a:r>
              <a:rPr lang="en-US" sz="1500" b="1" dirty="0">
                <a:solidFill>
                  <a:schemeClr val="bg1"/>
                </a:solidFill>
              </a:rPr>
              <a:t>Save  -  json.dump()</a:t>
            </a:r>
            <a:endParaRPr lang="en-US" sz="1500" dirty="0"/>
          </a:p>
        </p:txBody>
      </p:sp>
      <p:sp>
        <p:nvSpPr>
          <p:cNvPr id="9" name="Load arrow"/>
          <p:cNvSpPr txBox="1"/>
          <p:nvPr/>
        </p:nvSpPr>
        <p:spPr>
          <a:xfrm>
            <a:off x="4297680" y="2331720"/>
            <a:ext cx="3611880" cy="731520"/>
          </a:xfrm>
          <a:prstGeom prst="leftArrow">
            <a:avLst/>
          </a:prstGeom>
          <a:solidFill>
            <a:schemeClr val="accent3"/>
          </a:solidFill>
          <a:ln/>
        </p:spPr>
        <p:txBody>
          <a:bodyPr wrap="square" lIns="0" tIns="0" rIns="0" bIns="0" rtlCol="0" anchor="ctr"/>
          <a:lstStyle/>
          <a:p>
            <a:pPr algn="ctr" indent="0" marL="0">
              <a:buNone/>
            </a:pPr>
            <a:r>
              <a:rPr lang="en-US" sz="1500" b="1" dirty="0">
                <a:solidFill>
                  <a:schemeClr val="bg1"/>
                </a:solidFill>
              </a:rPr>
              <a:t>Load  -  json.load()</a:t>
            </a:r>
            <a:endParaRPr lang="en-US" sz="1500" dirty="0"/>
          </a:p>
        </p:txBody>
      </p:sp>
      <p:sp>
        <p:nvSpPr>
          <p:cNvPr id="10" name="File node"/>
          <p:cNvSpPr/>
          <p:nvPr/>
        </p:nvSpPr>
        <p:spPr>
          <a:xfrm>
            <a:off x="8046720" y="1463040"/>
            <a:ext cx="3566160" cy="1645920"/>
          </a:xfrm>
          <a:prstGeom prst="roundRect">
            <a:avLst>
              <a:gd name="adj" fmla="val 8333"/>
            </a:avLst>
          </a:prstGeom>
          <a:solidFill>
            <a:schemeClr val="tx2"/>
          </a:solidFill>
          <a:ln/>
        </p:spPr>
      </p:sp>
      <p:sp>
        <p:nvSpPr>
          <p:cNvPr id="11" name="File circle"/>
          <p:cNvSpPr/>
          <p:nvPr/>
        </p:nvSpPr>
        <p:spPr>
          <a:xfrm>
            <a:off x="8321040" y="1783080"/>
            <a:ext cx="640080" cy="640080"/>
          </a:xfrm>
          <a:prstGeom prst="ellipse">
            <a:avLst/>
          </a:prstGeom>
          <a:solidFill>
            <a:schemeClr val="accent3"/>
          </a:solidFill>
          <a:ln/>
        </p:spPr>
      </p:sp>
      <p:pic>
        <p:nvPicPr>
          <p:cNvPr id="12" name="Image 1" descr="File icon">    </p:cNvPr>
          <p:cNvPicPr>
            <a:picLocks noChangeAspect="1"/>
          </p:cNvPicPr>
          <p:nvPr/>
        </p:nvPicPr>
        <p:blipFill>
          <a:blip r:embed="rId2"/>
          <a:stretch>
            <a:fillRect/>
          </a:stretch>
        </p:blipFill>
        <p:spPr>
          <a:xfrm>
            <a:off x="8474659" y="1936699"/>
            <a:ext cx="332842" cy="332842"/>
          </a:xfrm>
          <a:prstGeom prst="rect">
            <a:avLst/>
          </a:prstGeom>
        </p:spPr>
      </p:pic>
      <p:sp>
        <p:nvSpPr>
          <p:cNvPr id="13" name="File title"/>
          <p:cNvSpPr txBox="1"/>
          <p:nvPr/>
        </p:nvSpPr>
        <p:spPr>
          <a:xfrm>
            <a:off x="9144000" y="1783080"/>
            <a:ext cx="2377440" cy="365760"/>
          </a:xfrm>
          <a:prstGeom prst="rect">
            <a:avLst/>
          </a:prstGeom>
          <a:noFill/>
          <a:ln/>
        </p:spPr>
        <p:txBody>
          <a:bodyPr wrap="square" lIns="0" tIns="0" rIns="0" bIns="0" rtlCol="0" anchor="t"/>
          <a:lstStyle/>
          <a:p>
            <a:pPr indent="0" marL="0">
              <a:buNone/>
            </a:pPr>
            <a:r>
              <a:rPr lang="en-US" sz="1800" b="1" dirty="0">
                <a:solidFill>
                  <a:schemeClr val="bg1"/>
                </a:solidFill>
              </a:rPr>
              <a:t>students.json</a:t>
            </a:r>
            <a:endParaRPr lang="en-US" sz="1800" dirty="0"/>
          </a:p>
        </p:txBody>
      </p:sp>
      <p:sp>
        <p:nvSpPr>
          <p:cNvPr id="14" name="File sub"/>
          <p:cNvSpPr txBox="1"/>
          <p:nvPr/>
        </p:nvSpPr>
        <p:spPr>
          <a:xfrm>
            <a:off x="9144000" y="2194560"/>
            <a:ext cx="2377440" cy="640080"/>
          </a:xfrm>
          <a:prstGeom prst="rect">
            <a:avLst/>
          </a:prstGeom>
          <a:noFill/>
          <a:ln/>
        </p:spPr>
        <p:txBody>
          <a:bodyPr wrap="square" lIns="0" tIns="0" rIns="0" bIns="0" rtlCol="0" anchor="t"/>
          <a:lstStyle/>
          <a:p>
            <a:pPr indent="0" marL="0">
              <a:buNone/>
            </a:pPr>
            <a:r>
              <a:rPr lang="en-US" sz="1500" dirty="0">
                <a:solidFill>
                  <a:schemeClr val="bg1"/>
                </a:solidFill>
              </a:rPr>
              <a:t>Saved on disk</a:t>
            </a:r>
            <a:endParaRPr lang="en-US" sz="1500" dirty="0"/>
          </a:p>
        </p:txBody>
      </p:sp>
      <p:sp>
        <p:nvSpPr>
          <p:cNvPr id="15" name="How it works card"/>
          <p:cNvSpPr/>
          <p:nvPr/>
        </p:nvSpPr>
        <p:spPr>
          <a:xfrm>
            <a:off x="548640" y="3474720"/>
            <a:ext cx="5394960" cy="2560320"/>
          </a:xfrm>
          <a:prstGeom prst="roundRect">
            <a:avLst>
              <a:gd name="adj" fmla="val 4286"/>
            </a:avLst>
          </a:prstGeom>
          <a:solidFill>
            <a:schemeClr val="bg2"/>
          </a:solidFill>
          <a:ln/>
        </p:spPr>
      </p:sp>
      <p:sp>
        <p:nvSpPr>
          <p:cNvPr id="16" name="How heading"/>
          <p:cNvSpPr txBox="1"/>
          <p:nvPr/>
        </p:nvSpPr>
        <p:spPr>
          <a:xfrm>
            <a:off x="822960" y="3657600"/>
            <a:ext cx="48463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How it works</a:t>
            </a:r>
            <a:endParaRPr lang="en-US" sz="1800" dirty="0"/>
          </a:p>
        </p:txBody>
      </p:sp>
      <p:sp>
        <p:nvSpPr>
          <p:cNvPr id="17" name="How bullets"/>
          <p:cNvSpPr txBox="1"/>
          <p:nvPr/>
        </p:nvSpPr>
        <p:spPr>
          <a:xfrm>
            <a:off x="822960" y="4114800"/>
            <a:ext cx="484632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Records are held in memory as a list of dictionaries</a:t>
            </a:r>
            <a:endParaRPr lang="en-US" sz="1500" dirty="0"/>
          </a:p>
          <a:p>
            <a:pPr marL="342900" indent="-342900">
              <a:spcAft>
                <a:spcPts val="600"/>
              </a:spcAft>
              <a:buSzPct val="100000"/>
              <a:buChar char="•"/>
            </a:pPr>
            <a:r>
              <a:rPr lang="en-US" sz="1500" dirty="0">
                <a:solidFill>
                  <a:schemeClr val="tx1"/>
                </a:solidFill>
              </a:rPr>
              <a:t>Saved to students.json after add, update or delete</a:t>
            </a:r>
            <a:endParaRPr lang="en-US" sz="1500" dirty="0"/>
          </a:p>
          <a:p>
            <a:pPr marL="342900" indent="-342900">
              <a:spcAft>
                <a:spcPts val="600"/>
              </a:spcAft>
              <a:buSzPct val="100000"/>
              <a:buChar char="•"/>
            </a:pPr>
            <a:r>
              <a:rPr lang="en-US" sz="1500" dirty="0">
                <a:solidFill>
                  <a:schemeClr val="tx1"/>
                </a:solidFill>
              </a:rPr>
              <a:t>Loaded again when the program restarts</a:t>
            </a:r>
            <a:endParaRPr lang="en-US" sz="1500" dirty="0"/>
          </a:p>
          <a:p>
            <a:pPr marL="342900" indent="-342900">
              <a:spcAft>
                <a:spcPts val="600"/>
              </a:spcAft>
              <a:buSzPct val="100000"/>
              <a:buChar char="•"/>
            </a:pPr>
            <a:r>
              <a:rPr lang="en-US" sz="1500" dirty="0">
                <a:solidFill>
                  <a:schemeClr val="tx1"/>
                </a:solidFill>
              </a:rPr>
              <a:t>Checks that the file exists before loading</a:t>
            </a:r>
            <a:endParaRPr lang="en-US" sz="1500" dirty="0"/>
          </a:p>
        </p:txBody>
      </p:sp>
      <p:sp>
        <p:nvSpPr>
          <p:cNvPr id="18" name="Code card"/>
          <p:cNvSpPr/>
          <p:nvPr/>
        </p:nvSpPr>
        <p:spPr>
          <a:xfrm>
            <a:off x="6217920" y="3474720"/>
            <a:ext cx="5394960" cy="2560320"/>
          </a:xfrm>
          <a:prstGeom prst="roundRect">
            <a:avLst>
              <a:gd name="adj" fmla="val 5357"/>
            </a:avLst>
          </a:prstGeom>
          <a:solidFill>
            <a:schemeClr val="tx2"/>
          </a:solidFill>
          <a:ln/>
        </p:spPr>
      </p:sp>
      <p:sp>
        <p:nvSpPr>
          <p:cNvPr id="19" name="Code heading"/>
          <p:cNvSpPr txBox="1"/>
          <p:nvPr/>
        </p:nvSpPr>
        <p:spPr>
          <a:xfrm>
            <a:off x="6492240" y="3657600"/>
            <a:ext cx="4846320" cy="365760"/>
          </a:xfrm>
          <a:prstGeom prst="rect">
            <a:avLst/>
          </a:prstGeom>
          <a:noFill/>
          <a:ln/>
        </p:spPr>
        <p:txBody>
          <a:bodyPr wrap="square" lIns="0" tIns="0" rIns="0" bIns="0" rtlCol="0" anchor="t"/>
          <a:lstStyle/>
          <a:p>
            <a:pPr indent="0" marL="0">
              <a:buNone/>
            </a:pPr>
            <a:r>
              <a:rPr lang="en-US" sz="1500" b="1" dirty="0">
                <a:solidFill>
                  <a:schemeClr val="accent2"/>
                </a:solidFill>
              </a:rPr>
              <a:t>students.json  (illustrative structure)</a:t>
            </a:r>
            <a:endParaRPr lang="en-US" sz="1500" dirty="0"/>
          </a:p>
        </p:txBody>
      </p:sp>
      <p:sp>
        <p:nvSpPr>
          <p:cNvPr id="20" name="Code sample"/>
          <p:cNvSpPr txBox="1"/>
          <p:nvPr/>
        </p:nvSpPr>
        <p:spPr>
          <a:xfrm>
            <a:off x="6492240" y="4114800"/>
            <a:ext cx="4846320" cy="182880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"name": "&lt;text&gt;",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"age": &lt;number&gt;,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"marks": &lt;number&gt;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Input Validation and Exception Handling</a:t>
            </a:r>
            <a:endParaRPr lang="en-US" sz="3400" dirty="0"/>
          </a:p>
        </p:txBody>
      </p:sp>
      <p:sp>
        <p:nvSpPr>
          <p:cNvPr id="3" name="Validation card"/>
          <p:cNvSpPr/>
          <p:nvPr/>
        </p:nvSpPr>
        <p:spPr>
          <a:xfrm>
            <a:off x="548640" y="1463040"/>
            <a:ext cx="5394960" cy="2606040"/>
          </a:xfrm>
          <a:prstGeom prst="roundRect">
            <a:avLst>
              <a:gd name="adj" fmla="val 4211"/>
            </a:avLst>
          </a:prstGeom>
          <a:solidFill>
            <a:schemeClr val="bg2"/>
          </a:solidFill>
          <a:ln/>
        </p:spPr>
      </p:sp>
      <p:sp>
        <p:nvSpPr>
          <p:cNvPr id="4" name="Validation circle"/>
          <p:cNvSpPr/>
          <p:nvPr/>
        </p:nvSpPr>
        <p:spPr>
          <a:xfrm>
            <a:off x="822960" y="1691640"/>
            <a:ext cx="594360" cy="594360"/>
          </a:xfrm>
          <a:prstGeom prst="ellipse">
            <a:avLst/>
          </a:prstGeom>
          <a:solidFill>
            <a:schemeClr val="accent1"/>
          </a:solidFill>
          <a:ln/>
        </p:spPr>
      </p:sp>
      <p:pic>
        <p:nvPicPr>
          <p:cNvPr id="5" name="Image 0" descr="Validation icon">    </p:cNvPr>
          <p:cNvPicPr>
            <a:picLocks noChangeAspect="1"/>
          </p:cNvPicPr>
          <p:nvPr/>
        </p:nvPicPr>
        <p:blipFill>
          <a:blip r:embed="rId1"/>
          <a:stretch>
            <a:fillRect/>
          </a:stretch>
        </p:blipFill>
        <p:spPr>
          <a:xfrm>
            <a:off x="965606" y="1834286"/>
            <a:ext cx="309067" cy="309067"/>
          </a:xfrm>
          <a:prstGeom prst="rect">
            <a:avLst/>
          </a:prstGeom>
        </p:spPr>
      </p:pic>
      <p:sp>
        <p:nvSpPr>
          <p:cNvPr id="6" name="Validation heading"/>
          <p:cNvSpPr txBox="1"/>
          <p:nvPr/>
        </p:nvSpPr>
        <p:spPr>
          <a:xfrm>
            <a:off x="1600200" y="1737360"/>
            <a:ext cx="4114800" cy="457200"/>
          </a:xfrm>
          <a:prstGeom prst="rect">
            <a:avLst/>
          </a:prstGeom>
          <a:noFill/>
          <a:ln/>
        </p:spPr>
        <p:txBody>
          <a:bodyPr wrap="square" lIns="0" tIns="0" rIns="0" bIns="0" rtlCol="0" anchor="ctr"/>
          <a:lstStyle/>
          <a:p>
            <a:pPr indent="0" marL="0">
              <a:buNone/>
            </a:pPr>
            <a:r>
              <a:rPr lang="en-US" sz="2000" b="1" dirty="0">
                <a:solidFill>
                  <a:schemeClr val="tx2"/>
                </a:solidFill>
              </a:rPr>
              <a:t>Input validation</a:t>
            </a:r>
            <a:endParaRPr lang="en-US" sz="2000" dirty="0"/>
          </a:p>
        </p:txBody>
      </p:sp>
      <p:sp>
        <p:nvSpPr>
          <p:cNvPr id="7" name="Validation bullets"/>
          <p:cNvSpPr txBox="1"/>
          <p:nvPr/>
        </p:nvSpPr>
        <p:spPr>
          <a:xfrm>
            <a:off x="822960" y="2514600"/>
            <a:ext cx="484632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Age and marks are checked before they are saved</a:t>
            </a:r>
            <a:endParaRPr lang="en-US" sz="1600" dirty="0"/>
          </a:p>
          <a:p>
            <a:pPr marL="342900" indent="-342900">
              <a:spcAft>
                <a:spcPts val="800"/>
              </a:spcAft>
              <a:buSzPct val="100000"/>
              <a:buChar char="•"/>
            </a:pPr>
            <a:r>
              <a:rPr lang="en-US" sz="1600" dirty="0">
                <a:solidFill>
                  <a:schemeClr val="tx1"/>
                </a:solidFill>
              </a:rPr>
              <a:t>Invalid entries are not accepted as records</a:t>
            </a:r>
            <a:endParaRPr lang="en-US" sz="1600" dirty="0"/>
          </a:p>
        </p:txBody>
      </p:sp>
      <p:sp>
        <p:nvSpPr>
          <p:cNvPr id="8" name="Exceptions card"/>
          <p:cNvSpPr/>
          <p:nvPr/>
        </p:nvSpPr>
        <p:spPr>
          <a:xfrm>
            <a:off x="6217920" y="1463040"/>
            <a:ext cx="5394960" cy="2606040"/>
          </a:xfrm>
          <a:prstGeom prst="roundRect">
            <a:avLst>
              <a:gd name="adj" fmla="val 4211"/>
            </a:avLst>
          </a:prstGeom>
          <a:solidFill>
            <a:schemeClr val="bg2"/>
          </a:solidFill>
          <a:ln/>
        </p:spPr>
      </p:sp>
      <p:sp>
        <p:nvSpPr>
          <p:cNvPr id="9" name="Exceptions circle"/>
          <p:cNvSpPr/>
          <p:nvPr/>
        </p:nvSpPr>
        <p:spPr>
          <a:xfrm>
            <a:off x="6492240" y="1691640"/>
            <a:ext cx="594360" cy="594360"/>
          </a:xfrm>
          <a:prstGeom prst="ellipse">
            <a:avLst/>
          </a:prstGeom>
          <a:solidFill>
            <a:schemeClr val="accent4"/>
          </a:solidFill>
          <a:ln/>
        </p:spPr>
      </p:sp>
      <p:pic>
        <p:nvPicPr>
          <p:cNvPr id="10" name="Image 1" descr="Exceptions icon">    </p:cNvPr>
          <p:cNvPicPr>
            <a:picLocks noChangeAspect="1"/>
          </p:cNvPicPr>
          <p:nvPr/>
        </p:nvPicPr>
        <p:blipFill>
          <a:blip r:embed="rId2"/>
          <a:stretch>
            <a:fillRect/>
          </a:stretch>
        </p:blipFill>
        <p:spPr>
          <a:xfrm>
            <a:off x="6634886" y="1834286"/>
            <a:ext cx="309067" cy="309067"/>
          </a:xfrm>
          <a:prstGeom prst="rect">
            <a:avLst/>
          </a:prstGeom>
        </p:spPr>
      </p:pic>
      <p:sp>
        <p:nvSpPr>
          <p:cNvPr id="11" name="Exceptions heading"/>
          <p:cNvSpPr txBox="1"/>
          <p:nvPr/>
        </p:nvSpPr>
        <p:spPr>
          <a:xfrm>
            <a:off x="7269480" y="1737360"/>
            <a:ext cx="4114800" cy="457200"/>
          </a:xfrm>
          <a:prstGeom prst="rect">
            <a:avLst/>
          </a:prstGeom>
          <a:noFill/>
          <a:ln/>
        </p:spPr>
        <p:txBody>
          <a:bodyPr wrap="square" lIns="0" tIns="0" rIns="0" bIns="0" rtlCol="0" anchor="ctr"/>
          <a:lstStyle/>
          <a:p>
            <a:pPr indent="0" marL="0">
              <a:buNone/>
            </a:pPr>
            <a:r>
              <a:rPr lang="en-US" sz="2000" b="1" dirty="0">
                <a:solidFill>
                  <a:schemeClr val="tx2"/>
                </a:solidFill>
              </a:rPr>
              <a:t>Exception handling</a:t>
            </a:r>
            <a:endParaRPr lang="en-US" sz="2000" dirty="0"/>
          </a:p>
        </p:txBody>
      </p:sp>
      <p:sp>
        <p:nvSpPr>
          <p:cNvPr id="12" name="Exceptions bullets"/>
          <p:cNvSpPr txBox="1"/>
          <p:nvPr/>
        </p:nvSpPr>
        <p:spPr>
          <a:xfrm>
            <a:off x="6492240" y="2514600"/>
            <a:ext cx="484632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try / except catches invalid numeric input</a:t>
            </a:r>
            <a:endParaRPr lang="en-US" sz="1600" dirty="0"/>
          </a:p>
          <a:p>
            <a:pPr marL="342900" indent="-342900">
              <a:spcAft>
                <a:spcPts val="800"/>
              </a:spcAft>
              <a:buSzPct val="100000"/>
              <a:buChar char="•"/>
            </a:pPr>
            <a:r>
              <a:rPr lang="en-US" sz="1600" dirty="0">
                <a:solidFill>
                  <a:schemeClr val="tx1"/>
                </a:solidFill>
              </a:rPr>
              <a:t>Common file errors are handled safely</a:t>
            </a:r>
            <a:endParaRPr lang="en-US" sz="1600" dirty="0"/>
          </a:p>
          <a:p>
            <a:pPr marL="342900" indent="-342900">
              <a:spcAft>
                <a:spcPts val="800"/>
              </a:spcAft>
              <a:buSzPct val="100000"/>
              <a:buChar char="•"/>
            </a:pPr>
            <a:r>
              <a:rPr lang="en-US" sz="1600" dirty="0">
                <a:solidFill>
                  <a:schemeClr val="tx1"/>
                </a:solidFill>
              </a:rPr>
              <a:t>The program keeps running instead of crashing</a:t>
            </a:r>
            <a:endParaRPr lang="en-US" sz="1600" dirty="0"/>
          </a:p>
        </p:txBody>
      </p:sp>
      <p:sp>
        <p:nvSpPr>
          <p:cNvPr id="13" name="Code strip"/>
          <p:cNvSpPr/>
          <p:nvPr/>
        </p:nvSpPr>
        <p:spPr>
          <a:xfrm>
            <a:off x="548640" y="4343400"/>
            <a:ext cx="11064240" cy="1737360"/>
          </a:xfrm>
          <a:prstGeom prst="roundRect">
            <a:avLst>
              <a:gd name="adj" fmla="val 7895"/>
            </a:avLst>
          </a:prstGeom>
          <a:solidFill>
            <a:schemeClr val="tx2"/>
          </a:solidFill>
          <a:ln/>
        </p:spPr>
      </p:sp>
      <p:sp>
        <p:nvSpPr>
          <p:cNvPr id="14" name="Code strip label"/>
          <p:cNvSpPr txBox="1"/>
          <p:nvPr/>
        </p:nvSpPr>
        <p:spPr>
          <a:xfrm>
            <a:off x="868680" y="4498848"/>
            <a:ext cx="5486400" cy="320040"/>
          </a:xfrm>
          <a:prstGeom prst="rect">
            <a:avLst/>
          </a:prstGeom>
          <a:noFill/>
          <a:ln/>
        </p:spPr>
        <p:txBody>
          <a:bodyPr wrap="square" lIns="0" tIns="0" rIns="0" bIns="0" rtlCol="0" anchor="t"/>
          <a:lstStyle/>
          <a:p>
            <a:pPr indent="0" marL="0">
              <a:buNone/>
            </a:pPr>
            <a:r>
              <a:rPr lang="en-US" sz="1400" b="1" dirty="0">
                <a:solidFill>
                  <a:schemeClr val="accent2"/>
                </a:solidFill>
              </a:rPr>
              <a:t>Simplified pattern (illustrative)</a:t>
            </a:r>
            <a:endParaRPr lang="en-US" sz="1400" dirty="0"/>
          </a:p>
        </p:txBody>
      </p:sp>
      <p:sp>
        <p:nvSpPr>
          <p:cNvPr id="15" name="Code strip sample"/>
          <p:cNvSpPr txBox="1"/>
          <p:nvPr/>
        </p:nvSpPr>
        <p:spPr>
          <a:xfrm>
            <a:off x="868680" y="4846320"/>
            <a:ext cx="6583680" cy="114300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try:</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age = int(input("Enter age: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except ValueError: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print("Invalid input. Enter a number.")</a:t>
            </a:r>
            <a:endParaRPr lang="en-US" sz="1400" dirty="0"/>
          </a:p>
        </p:txBody>
      </p:sp>
      <p:sp>
        <p:nvSpPr>
          <p:cNvPr id="16" name="Result label"/>
          <p:cNvSpPr txBox="1"/>
          <p:nvPr/>
        </p:nvSpPr>
        <p:spPr>
          <a:xfrm>
            <a:off x="8138160" y="4572000"/>
            <a:ext cx="3200400" cy="320040"/>
          </a:xfrm>
          <a:prstGeom prst="rect">
            <a:avLst/>
          </a:prstGeom>
          <a:noFill/>
          <a:ln/>
        </p:spPr>
        <p:txBody>
          <a:bodyPr wrap="square" lIns="0" tIns="0" rIns="0" bIns="0" rtlCol="0" anchor="t"/>
          <a:lstStyle/>
          <a:p>
            <a:pPr indent="0" marL="0">
              <a:buNone/>
            </a:pPr>
            <a:r>
              <a:rPr lang="en-US" sz="1400" b="1" dirty="0">
                <a:solidFill>
                  <a:schemeClr val="accent2"/>
                </a:solidFill>
              </a:rPr>
              <a:t>Result</a:t>
            </a:r>
            <a:endParaRPr lang="en-US" sz="1400" dirty="0"/>
          </a:p>
        </p:txBody>
      </p:sp>
      <p:sp>
        <p:nvSpPr>
          <p:cNvPr id="17" name="Result text"/>
          <p:cNvSpPr txBox="1"/>
          <p:nvPr/>
        </p:nvSpPr>
        <p:spPr>
          <a:xfrm>
            <a:off x="8138160" y="4937760"/>
            <a:ext cx="3200400" cy="1005840"/>
          </a:xfrm>
          <a:prstGeom prst="rect">
            <a:avLst/>
          </a:prstGeom>
          <a:noFill/>
          <a:ln/>
        </p:spPr>
        <p:txBody>
          <a:bodyPr wrap="square" lIns="0" tIns="0" rIns="0" bIns="0" rtlCol="0" anchor="t"/>
          <a:lstStyle/>
          <a:p>
            <a:pPr indent="0" marL="0">
              <a:buNone/>
            </a:pPr>
            <a:r>
              <a:rPr lang="en-US" sz="1500" dirty="0">
                <a:solidFill>
                  <a:schemeClr val="bg1"/>
                </a:solidFill>
              </a:rPr>
              <a:t>A wrong entry shows a message and the program continues - no unexpected termination.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Screenshots and Output</a:t>
            </a:r>
            <a:endParaRPr lang="en-US" sz="3400" dirty="0"/>
          </a:p>
        </p:txBody>
      </p:sp>
      <p:sp>
        <p:nvSpPr>
          <p:cNvPr id="3" name="Screenshot placeholder 1"/>
          <p:cNvSpPr/>
          <p:nvPr/>
        </p:nvSpPr>
        <p:spPr>
          <a:xfrm>
            <a:off x="548640" y="1463040"/>
            <a:ext cx="2606040" cy="3566160"/>
          </a:xfrm>
          <a:prstGeom prst="roundRect">
            <a:avLst>
              <a:gd name="adj" fmla="val 4211"/>
            </a:avLst>
          </a:prstGeom>
          <a:solidFill>
            <a:schemeClr val="bg2"/>
          </a:solidFill>
          <a:ln w="19050">
            <a:solidFill>
              <a:schemeClr val="accent6"/>
            </a:solidFill>
            <a:prstDash val="dash"/>
          </a:ln>
        </p:spPr>
      </p:sp>
      <p:pic>
        <p:nvPicPr>
          <p:cNvPr id="4" name="Image 0" descr="Image placeholder icon">    </p:cNvPr>
          <p:cNvPicPr>
            <a:picLocks noChangeAspect="1"/>
          </p:cNvPicPr>
          <p:nvPr/>
        </p:nvPicPr>
        <p:blipFill>
          <a:blip r:embed="rId1"/>
          <a:stretch>
            <a:fillRect/>
          </a:stretch>
        </p:blipFill>
        <p:spPr>
          <a:xfrm>
            <a:off x="1527048" y="2103120"/>
            <a:ext cx="640080" cy="640080"/>
          </a:xfrm>
          <a:prstGeom prst="rect">
            <a:avLst/>
          </a:prstGeom>
        </p:spPr>
      </p:pic>
      <p:sp>
        <p:nvSpPr>
          <p:cNvPr id="5" name="Placeholder label 1"/>
          <p:cNvSpPr txBox="1"/>
          <p:nvPr/>
        </p:nvSpPr>
        <p:spPr>
          <a:xfrm>
            <a:off x="685800" y="3017520"/>
            <a:ext cx="2331720" cy="320040"/>
          </a:xfrm>
          <a:prstGeom prst="rect">
            <a:avLst/>
          </a:prstGeom>
          <a:noFill/>
          <a:ln/>
        </p:spPr>
        <p:txBody>
          <a:bodyPr wrap="square" lIns="0" tIns="0" rIns="0" bIns="0" rtlCol="0" anchor="t"/>
          <a:lstStyle/>
          <a:p>
            <a:pPr algn="ctr" indent="0" marL="0">
              <a:buNone/>
            </a:pPr>
            <a:r>
              <a:rPr lang="en-US" sz="1400" b="1" dirty="0">
                <a:solidFill>
                  <a:schemeClr val="accent6"/>
                </a:solidFill>
              </a:rPr>
              <a:t>INSERT SCREENSHOT 1</a:t>
            </a:r>
            <a:endParaRPr lang="en-US" sz="1400" dirty="0"/>
          </a:p>
        </p:txBody>
      </p:sp>
      <p:sp>
        <p:nvSpPr>
          <p:cNvPr id="6" name="Placeholder caption 1"/>
          <p:cNvSpPr txBox="1"/>
          <p:nvPr/>
        </p:nvSpPr>
        <p:spPr>
          <a:xfrm>
            <a:off x="685800" y="3429000"/>
            <a:ext cx="2331720" cy="640080"/>
          </a:xfrm>
          <a:prstGeom prst="rect">
            <a:avLst/>
          </a:prstGeom>
          <a:noFill/>
          <a:ln/>
        </p:spPr>
        <p:txBody>
          <a:bodyPr wrap="square" lIns="0" tIns="0" rIns="0" bIns="0" rtlCol="0" anchor="t"/>
          <a:lstStyle/>
          <a:p>
            <a:pPr algn="ctr" indent="0" marL="0">
              <a:buNone/>
            </a:pPr>
            <a:r>
              <a:rPr lang="en-US" sz="1600" b="1" dirty="0">
                <a:solidFill>
                  <a:schemeClr val="tx2"/>
                </a:solidFill>
              </a:rPr>
              <a:t>Main menu</a:t>
            </a:r>
            <a:endParaRPr lang="en-US" sz="1600" dirty="0"/>
          </a:p>
        </p:txBody>
      </p:sp>
      <p:sp>
        <p:nvSpPr>
          <p:cNvPr id="7" name="Screenshot placeholder 2"/>
          <p:cNvSpPr/>
          <p:nvPr/>
        </p:nvSpPr>
        <p:spPr>
          <a:xfrm>
            <a:off x="3374136" y="1463040"/>
            <a:ext cx="2606040" cy="3566160"/>
          </a:xfrm>
          <a:prstGeom prst="roundRect">
            <a:avLst>
              <a:gd name="adj" fmla="val 4211"/>
            </a:avLst>
          </a:prstGeom>
          <a:solidFill>
            <a:schemeClr val="bg2"/>
          </a:solidFill>
          <a:ln w="19050">
            <a:solidFill>
              <a:schemeClr val="accent6"/>
            </a:solidFill>
            <a:prstDash val="dash"/>
          </a:ln>
        </p:spPr>
      </p:sp>
      <p:pic>
        <p:nvPicPr>
          <p:cNvPr id="8" name="Image 1" descr="Image placeholder icon">    </p:cNvPr>
          <p:cNvPicPr>
            <a:picLocks noChangeAspect="1"/>
          </p:cNvPicPr>
          <p:nvPr/>
        </p:nvPicPr>
        <p:blipFill>
          <a:blip r:embed="rId2"/>
          <a:stretch>
            <a:fillRect/>
          </a:stretch>
        </p:blipFill>
        <p:spPr>
          <a:xfrm>
            <a:off x="4352544" y="2103120"/>
            <a:ext cx="640080" cy="640080"/>
          </a:xfrm>
          <a:prstGeom prst="rect">
            <a:avLst/>
          </a:prstGeom>
        </p:spPr>
      </p:pic>
      <p:sp>
        <p:nvSpPr>
          <p:cNvPr id="9" name="Placeholder label 2"/>
          <p:cNvSpPr txBox="1"/>
          <p:nvPr/>
        </p:nvSpPr>
        <p:spPr>
          <a:xfrm>
            <a:off x="3511296" y="3017520"/>
            <a:ext cx="2331720" cy="320040"/>
          </a:xfrm>
          <a:prstGeom prst="rect">
            <a:avLst/>
          </a:prstGeom>
          <a:noFill/>
          <a:ln/>
        </p:spPr>
        <p:txBody>
          <a:bodyPr wrap="square" lIns="0" tIns="0" rIns="0" bIns="0" rtlCol="0" anchor="t"/>
          <a:lstStyle/>
          <a:p>
            <a:pPr algn="ctr" indent="0" marL="0">
              <a:buNone/>
            </a:pPr>
            <a:r>
              <a:rPr lang="en-US" sz="1400" b="1" dirty="0">
                <a:solidFill>
                  <a:schemeClr val="accent6"/>
                </a:solidFill>
              </a:rPr>
              <a:t>INSERT SCREENSHOT 2</a:t>
            </a:r>
            <a:endParaRPr lang="en-US" sz="1400" dirty="0"/>
          </a:p>
        </p:txBody>
      </p:sp>
      <p:sp>
        <p:nvSpPr>
          <p:cNvPr id="10" name="Placeholder caption 2"/>
          <p:cNvSpPr txBox="1"/>
          <p:nvPr/>
        </p:nvSpPr>
        <p:spPr>
          <a:xfrm>
            <a:off x="3511296" y="3429000"/>
            <a:ext cx="2331720" cy="640080"/>
          </a:xfrm>
          <a:prstGeom prst="rect">
            <a:avLst/>
          </a:prstGeom>
          <a:noFill/>
          <a:ln/>
        </p:spPr>
        <p:txBody>
          <a:bodyPr wrap="square" lIns="0" tIns="0" rIns="0" bIns="0" rtlCol="0" anchor="t"/>
          <a:lstStyle/>
          <a:p>
            <a:pPr algn="ctr" indent="0" marL="0">
              <a:buNone/>
            </a:pPr>
            <a:r>
              <a:rPr lang="en-US" sz="1600" b="1" dirty="0">
                <a:solidFill>
                  <a:schemeClr val="tx2"/>
                </a:solidFill>
              </a:rPr>
              <a:t>Add / Display students</a:t>
            </a:r>
            <a:endParaRPr lang="en-US" sz="1600" dirty="0"/>
          </a:p>
        </p:txBody>
      </p:sp>
      <p:sp>
        <p:nvSpPr>
          <p:cNvPr id="11" name="Screenshot placeholder 3"/>
          <p:cNvSpPr/>
          <p:nvPr/>
        </p:nvSpPr>
        <p:spPr>
          <a:xfrm>
            <a:off x="6199632" y="1463040"/>
            <a:ext cx="2606040" cy="3566160"/>
          </a:xfrm>
          <a:prstGeom prst="roundRect">
            <a:avLst>
              <a:gd name="adj" fmla="val 4211"/>
            </a:avLst>
          </a:prstGeom>
          <a:solidFill>
            <a:schemeClr val="bg2"/>
          </a:solidFill>
          <a:ln w="19050">
            <a:solidFill>
              <a:schemeClr val="accent6"/>
            </a:solidFill>
            <a:prstDash val="dash"/>
          </a:ln>
        </p:spPr>
      </p:sp>
      <p:pic>
        <p:nvPicPr>
          <p:cNvPr id="12" name="Image 2" descr="Image placeholder icon">    </p:cNvPr>
          <p:cNvPicPr>
            <a:picLocks noChangeAspect="1"/>
          </p:cNvPicPr>
          <p:nvPr/>
        </p:nvPicPr>
        <p:blipFill>
          <a:blip r:embed="rId3"/>
          <a:stretch>
            <a:fillRect/>
          </a:stretch>
        </p:blipFill>
        <p:spPr>
          <a:xfrm>
            <a:off x="7178040" y="2103120"/>
            <a:ext cx="640080" cy="640080"/>
          </a:xfrm>
          <a:prstGeom prst="rect">
            <a:avLst/>
          </a:prstGeom>
        </p:spPr>
      </p:pic>
      <p:sp>
        <p:nvSpPr>
          <p:cNvPr id="13" name="Placeholder label 3"/>
          <p:cNvSpPr txBox="1"/>
          <p:nvPr/>
        </p:nvSpPr>
        <p:spPr>
          <a:xfrm>
            <a:off x="6336792" y="3017520"/>
            <a:ext cx="2331720" cy="320040"/>
          </a:xfrm>
          <a:prstGeom prst="rect">
            <a:avLst/>
          </a:prstGeom>
          <a:noFill/>
          <a:ln/>
        </p:spPr>
        <p:txBody>
          <a:bodyPr wrap="square" lIns="0" tIns="0" rIns="0" bIns="0" rtlCol="0" anchor="t"/>
          <a:lstStyle/>
          <a:p>
            <a:pPr algn="ctr" indent="0" marL="0">
              <a:buNone/>
            </a:pPr>
            <a:r>
              <a:rPr lang="en-US" sz="1400" b="1" dirty="0">
                <a:solidFill>
                  <a:schemeClr val="accent6"/>
                </a:solidFill>
              </a:rPr>
              <a:t>INSERT SCREENSHOT 3</a:t>
            </a:r>
            <a:endParaRPr lang="en-US" sz="1400" dirty="0"/>
          </a:p>
        </p:txBody>
      </p:sp>
      <p:sp>
        <p:nvSpPr>
          <p:cNvPr id="14" name="Placeholder caption 3"/>
          <p:cNvSpPr txBox="1"/>
          <p:nvPr/>
        </p:nvSpPr>
        <p:spPr>
          <a:xfrm>
            <a:off x="6336792" y="3429000"/>
            <a:ext cx="2331720" cy="640080"/>
          </a:xfrm>
          <a:prstGeom prst="rect">
            <a:avLst/>
          </a:prstGeom>
          <a:noFill/>
          <a:ln/>
        </p:spPr>
        <p:txBody>
          <a:bodyPr wrap="square" lIns="0" tIns="0" rIns="0" bIns="0" rtlCol="0" anchor="t"/>
          <a:lstStyle/>
          <a:p>
            <a:pPr algn="ctr" indent="0" marL="0">
              <a:buNone/>
            </a:pPr>
            <a:r>
              <a:rPr lang="en-US" sz="1600" b="1" dirty="0">
                <a:solidFill>
                  <a:schemeClr val="tx2"/>
                </a:solidFill>
              </a:rPr>
              <a:t>Search / Update / Delete</a:t>
            </a:r>
            <a:endParaRPr lang="en-US" sz="1600" dirty="0"/>
          </a:p>
        </p:txBody>
      </p:sp>
      <p:sp>
        <p:nvSpPr>
          <p:cNvPr id="15" name="Screenshot placeholder 4"/>
          <p:cNvSpPr/>
          <p:nvPr/>
        </p:nvSpPr>
        <p:spPr>
          <a:xfrm>
            <a:off x="9025128" y="1463040"/>
            <a:ext cx="2606040" cy="3566160"/>
          </a:xfrm>
          <a:prstGeom prst="roundRect">
            <a:avLst>
              <a:gd name="adj" fmla="val 4211"/>
            </a:avLst>
          </a:prstGeom>
          <a:solidFill>
            <a:schemeClr val="bg2"/>
          </a:solidFill>
          <a:ln w="19050">
            <a:solidFill>
              <a:schemeClr val="accent6"/>
            </a:solidFill>
            <a:prstDash val="dash"/>
          </a:ln>
        </p:spPr>
      </p:sp>
      <p:pic>
        <p:nvPicPr>
          <p:cNvPr id="16" name="Image 3" descr="Image placeholder icon">    </p:cNvPr>
          <p:cNvPicPr>
            <a:picLocks noChangeAspect="1"/>
          </p:cNvPicPr>
          <p:nvPr/>
        </p:nvPicPr>
        <p:blipFill>
          <a:blip r:embed="rId4"/>
          <a:stretch>
            <a:fillRect/>
          </a:stretch>
        </p:blipFill>
        <p:spPr>
          <a:xfrm>
            <a:off x="10003536" y="2103120"/>
            <a:ext cx="640080" cy="640080"/>
          </a:xfrm>
          <a:prstGeom prst="rect">
            <a:avLst/>
          </a:prstGeom>
        </p:spPr>
      </p:pic>
      <p:sp>
        <p:nvSpPr>
          <p:cNvPr id="17" name="Placeholder label 4"/>
          <p:cNvSpPr txBox="1"/>
          <p:nvPr/>
        </p:nvSpPr>
        <p:spPr>
          <a:xfrm>
            <a:off x="9162288" y="3017520"/>
            <a:ext cx="2331720" cy="320040"/>
          </a:xfrm>
          <a:prstGeom prst="rect">
            <a:avLst/>
          </a:prstGeom>
          <a:noFill/>
          <a:ln/>
        </p:spPr>
        <p:txBody>
          <a:bodyPr wrap="square" lIns="0" tIns="0" rIns="0" bIns="0" rtlCol="0" anchor="t"/>
          <a:lstStyle/>
          <a:p>
            <a:pPr algn="ctr" indent="0" marL="0">
              <a:buNone/>
            </a:pPr>
            <a:r>
              <a:rPr lang="en-US" sz="1400" b="1" dirty="0">
                <a:solidFill>
                  <a:schemeClr val="accent6"/>
                </a:solidFill>
              </a:rPr>
              <a:t>INSERT SCREENSHOT 4</a:t>
            </a:r>
            <a:endParaRPr lang="en-US" sz="1400" dirty="0"/>
          </a:p>
        </p:txBody>
      </p:sp>
      <p:sp>
        <p:nvSpPr>
          <p:cNvPr id="18" name="Placeholder caption 4"/>
          <p:cNvSpPr txBox="1"/>
          <p:nvPr/>
        </p:nvSpPr>
        <p:spPr>
          <a:xfrm>
            <a:off x="9162288" y="3429000"/>
            <a:ext cx="2331720" cy="640080"/>
          </a:xfrm>
          <a:prstGeom prst="rect">
            <a:avLst/>
          </a:prstGeom>
          <a:noFill/>
          <a:ln/>
        </p:spPr>
        <p:txBody>
          <a:bodyPr wrap="square" lIns="0" tIns="0" rIns="0" bIns="0" rtlCol="0" anchor="t"/>
          <a:lstStyle/>
          <a:p>
            <a:pPr algn="ctr" indent="0" marL="0">
              <a:buNone/>
            </a:pPr>
            <a:r>
              <a:rPr lang="en-US" sz="1600" b="1" dirty="0">
                <a:solidFill>
                  <a:schemeClr val="tx2"/>
                </a:solidFill>
              </a:rPr>
              <a:t>students.json file</a:t>
            </a:r>
            <a:endParaRPr lang="en-US" sz="1600" dirty="0"/>
          </a:p>
        </p:txBody>
      </p:sp>
      <p:sp>
        <p:nvSpPr>
          <p:cNvPr id="19" name="Screenshot tip card"/>
          <p:cNvSpPr/>
          <p:nvPr/>
        </p:nvSpPr>
        <p:spPr>
          <a:xfrm>
            <a:off x="548640" y="5303520"/>
            <a:ext cx="11064240" cy="777240"/>
          </a:xfrm>
          <a:prstGeom prst="roundRect">
            <a:avLst>
              <a:gd name="adj" fmla="val 14118"/>
            </a:avLst>
          </a:prstGeom>
          <a:solidFill>
            <a:schemeClr val="bg2"/>
          </a:solidFill>
          <a:ln/>
        </p:spPr>
      </p:sp>
      <p:sp>
        <p:nvSpPr>
          <p:cNvPr id="20" name="Screenshot tip"/>
          <p:cNvSpPr txBox="1"/>
          <p:nvPr/>
        </p:nvSpPr>
        <p:spPr>
          <a:xfrm>
            <a:off x="822960" y="5303520"/>
            <a:ext cx="10515600" cy="777240"/>
          </a:xfrm>
          <a:prstGeom prst="rect">
            <a:avLst/>
          </a:prstGeom>
          <a:noFill/>
          <a:ln/>
        </p:spPr>
        <p:txBody>
          <a:bodyPr wrap="square" lIns="0" tIns="0" rIns="0" bIns="0" rtlCol="0" anchor="ctr"/>
          <a:lstStyle/>
          <a:p>
            <a:pPr indent="0" marL="0">
              <a:buNone/>
            </a:pPr>
            <a:r>
              <a:rPr lang="en-US" sz="1500" dirty="0">
                <a:solidFill>
                  <a:schemeClr val="tx1"/>
                </a:solidFill>
              </a:rPr>
              <a:t>How to add yours: select a frame, then Insert &gt; Pictures, and resize the image to fit. Delete the dashed frame afterwards.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Challenges Faced and Solutions</a:t>
            </a:r>
            <a:endParaRPr lang="en-US" sz="3400" dirty="0"/>
          </a:p>
        </p:txBody>
      </p:sp>
      <p:sp>
        <p:nvSpPr>
          <p:cNvPr id="3" name="Challenge column label"/>
          <p:cNvSpPr txBox="1"/>
          <p:nvPr/>
        </p:nvSpPr>
        <p:spPr>
          <a:xfrm>
            <a:off x="548640" y="1371600"/>
            <a:ext cx="4937760" cy="320040"/>
          </a:xfrm>
          <a:prstGeom prst="rect">
            <a:avLst/>
          </a:prstGeom>
          <a:noFill/>
          <a:ln/>
        </p:spPr>
        <p:txBody>
          <a:bodyPr wrap="square" lIns="0" tIns="0" rIns="0" bIns="0" rtlCol="0" anchor="t"/>
          <a:lstStyle/>
          <a:p>
            <a:pPr indent="0" marL="0">
              <a:buNone/>
            </a:pPr>
            <a:r>
              <a:rPr lang="en-US" sz="1400" b="1" dirty="0">
                <a:solidFill>
                  <a:schemeClr val="accent4"/>
                </a:solidFill>
              </a:rPr>
              <a:t>CHALLENGE</a:t>
            </a:r>
            <a:endParaRPr lang="en-US" sz="1400" dirty="0"/>
          </a:p>
        </p:txBody>
      </p:sp>
      <p:sp>
        <p:nvSpPr>
          <p:cNvPr id="4" name="Solution column label"/>
          <p:cNvSpPr txBox="1"/>
          <p:nvPr/>
        </p:nvSpPr>
        <p:spPr>
          <a:xfrm>
            <a:off x="6217920" y="1371600"/>
            <a:ext cx="5394960" cy="320040"/>
          </a:xfrm>
          <a:prstGeom prst="rect">
            <a:avLst/>
          </a:prstGeom>
          <a:noFill/>
          <a:ln/>
        </p:spPr>
        <p:txBody>
          <a:bodyPr wrap="square" lIns="0" tIns="0" rIns="0" bIns="0" rtlCol="0" anchor="t"/>
          <a:lstStyle/>
          <a:p>
            <a:pPr indent="0" marL="0">
              <a:buNone/>
            </a:pPr>
            <a:r>
              <a:rPr lang="en-US" sz="1400" b="1" dirty="0">
                <a:solidFill>
                  <a:schemeClr val="accent3"/>
                </a:solidFill>
              </a:rPr>
              <a:t>SOLUTION</a:t>
            </a:r>
            <a:endParaRPr lang="en-US" sz="1400" dirty="0"/>
          </a:p>
        </p:txBody>
      </p:sp>
      <p:sp>
        <p:nvSpPr>
          <p:cNvPr id="5" name="Challenge card 1"/>
          <p:cNvSpPr/>
          <p:nvPr/>
        </p:nvSpPr>
        <p:spPr>
          <a:xfrm>
            <a:off x="548640" y="1783080"/>
            <a:ext cx="4937760" cy="914400"/>
          </a:xfrm>
          <a:prstGeom prst="roundRect">
            <a:avLst>
              <a:gd name="adj" fmla="val 12000"/>
            </a:avLst>
          </a:prstGeom>
          <a:solidFill>
            <a:schemeClr val="bg2"/>
          </a:solidFill>
          <a:ln/>
        </p:spPr>
      </p:sp>
      <p:sp>
        <p:nvSpPr>
          <p:cNvPr id="6" name="Challenge 1 circle"/>
          <p:cNvSpPr/>
          <p:nvPr/>
        </p:nvSpPr>
        <p:spPr>
          <a:xfrm>
            <a:off x="731520" y="1965960"/>
            <a:ext cx="548640" cy="548640"/>
          </a:xfrm>
          <a:prstGeom prst="ellipse">
            <a:avLst/>
          </a:prstGeom>
          <a:solidFill>
            <a:schemeClr val="accent4"/>
          </a:solidFill>
          <a:ln/>
        </p:spPr>
      </p:sp>
      <p:pic>
        <p:nvPicPr>
          <p:cNvPr id="7" name="Image 0" descr="Challenge 1 icon">    </p:cNvPr>
          <p:cNvPicPr>
            <a:picLocks noChangeAspect="1"/>
          </p:cNvPicPr>
          <p:nvPr/>
        </p:nvPicPr>
        <p:blipFill>
          <a:blip r:embed="rId1"/>
          <a:stretch>
            <a:fillRect/>
          </a:stretch>
        </p:blipFill>
        <p:spPr>
          <a:xfrm>
            <a:off x="863194" y="2097634"/>
            <a:ext cx="285293" cy="285293"/>
          </a:xfrm>
          <a:prstGeom prst="rect">
            <a:avLst/>
          </a:prstGeom>
        </p:spPr>
      </p:pic>
      <p:sp>
        <p:nvSpPr>
          <p:cNvPr id="8" name="Challenge text 1"/>
          <p:cNvSpPr txBox="1"/>
          <p:nvPr/>
        </p:nvSpPr>
        <p:spPr>
          <a:xfrm>
            <a:off x="1463040" y="1828800"/>
            <a:ext cx="3886200" cy="822960"/>
          </a:xfrm>
          <a:prstGeom prst="rect">
            <a:avLst/>
          </a:prstGeom>
          <a:noFill/>
          <a:ln/>
        </p:spPr>
        <p:txBody>
          <a:bodyPr wrap="square" lIns="0" tIns="0" rIns="0" bIns="0" rtlCol="0" anchor="ctr"/>
          <a:lstStyle/>
          <a:p>
            <a:pPr indent="0" marL="0">
              <a:buNone/>
            </a:pPr>
            <a:r>
              <a:rPr lang="en-US" sz="1500" b="1" dirty="0">
                <a:solidFill>
                  <a:schemeClr val="tx2"/>
                </a:solidFill>
              </a:rPr>
              <a:t>Records were lost when the program closed</a:t>
            </a:r>
            <a:endParaRPr lang="en-US" sz="1500" dirty="0"/>
          </a:p>
        </p:txBody>
      </p:sp>
      <p:sp>
        <p:nvSpPr>
          <p:cNvPr id="9" name="Challenge arrow 1"/>
          <p:cNvSpPr/>
          <p:nvPr/>
        </p:nvSpPr>
        <p:spPr>
          <a:xfrm>
            <a:off x="5596128" y="2029968"/>
            <a:ext cx="502920" cy="420624"/>
          </a:xfrm>
          <a:prstGeom prst="rightArrow">
            <a:avLst/>
          </a:prstGeom>
          <a:solidFill>
            <a:schemeClr val="accent6"/>
          </a:solidFill>
          <a:ln/>
        </p:spPr>
      </p:sp>
      <p:sp>
        <p:nvSpPr>
          <p:cNvPr id="10" name="Solution card 1"/>
          <p:cNvSpPr/>
          <p:nvPr/>
        </p:nvSpPr>
        <p:spPr>
          <a:xfrm>
            <a:off x="6217920" y="1783080"/>
            <a:ext cx="5394960" cy="914400"/>
          </a:xfrm>
          <a:prstGeom prst="roundRect">
            <a:avLst>
              <a:gd name="adj" fmla="val 12000"/>
            </a:avLst>
          </a:prstGeom>
          <a:solidFill>
            <a:schemeClr val="bg2"/>
          </a:solidFill>
          <a:ln/>
        </p:spPr>
      </p:sp>
      <p:sp>
        <p:nvSpPr>
          <p:cNvPr id="11" name="Solution 1 circle"/>
          <p:cNvSpPr/>
          <p:nvPr/>
        </p:nvSpPr>
        <p:spPr>
          <a:xfrm>
            <a:off x="6400800" y="1965960"/>
            <a:ext cx="548640" cy="548640"/>
          </a:xfrm>
          <a:prstGeom prst="ellipse">
            <a:avLst/>
          </a:prstGeom>
          <a:solidFill>
            <a:schemeClr val="accent3"/>
          </a:solidFill>
          <a:ln/>
        </p:spPr>
      </p:sp>
      <p:pic>
        <p:nvPicPr>
          <p:cNvPr id="12" name="Image 1" descr="Solution 1 icon">    </p:cNvPr>
          <p:cNvPicPr>
            <a:picLocks noChangeAspect="1"/>
          </p:cNvPicPr>
          <p:nvPr/>
        </p:nvPicPr>
        <p:blipFill>
          <a:blip r:embed="rId2"/>
          <a:stretch>
            <a:fillRect/>
          </a:stretch>
        </p:blipFill>
        <p:spPr>
          <a:xfrm>
            <a:off x="6532474" y="2097634"/>
            <a:ext cx="285293" cy="285293"/>
          </a:xfrm>
          <a:prstGeom prst="rect">
            <a:avLst/>
          </a:prstGeom>
        </p:spPr>
      </p:pic>
      <p:sp>
        <p:nvSpPr>
          <p:cNvPr id="13" name="Solution text 1"/>
          <p:cNvSpPr txBox="1"/>
          <p:nvPr/>
        </p:nvSpPr>
        <p:spPr>
          <a:xfrm>
            <a:off x="7132320" y="1828800"/>
            <a:ext cx="4343400" cy="822960"/>
          </a:xfrm>
          <a:prstGeom prst="rect">
            <a:avLst/>
          </a:prstGeom>
          <a:noFill/>
          <a:ln/>
        </p:spPr>
        <p:txBody>
          <a:bodyPr wrap="square" lIns="0" tIns="0" rIns="0" bIns="0" rtlCol="0" anchor="ctr"/>
          <a:lstStyle/>
          <a:p>
            <a:pPr indent="0" marL="0">
              <a:buNone/>
            </a:pPr>
            <a:r>
              <a:rPr lang="en-US" sz="1500" dirty="0">
                <a:solidFill>
                  <a:schemeClr val="tx1"/>
                </a:solidFill>
              </a:rPr>
              <a:t>Stored records in a JSON file and loaded them at start</a:t>
            </a:r>
            <a:endParaRPr lang="en-US" sz="1500" dirty="0"/>
          </a:p>
        </p:txBody>
      </p:sp>
      <p:sp>
        <p:nvSpPr>
          <p:cNvPr id="14" name="Challenge card 2"/>
          <p:cNvSpPr/>
          <p:nvPr/>
        </p:nvSpPr>
        <p:spPr>
          <a:xfrm>
            <a:off x="548640" y="2834640"/>
            <a:ext cx="4937760" cy="914400"/>
          </a:xfrm>
          <a:prstGeom prst="roundRect">
            <a:avLst>
              <a:gd name="adj" fmla="val 12000"/>
            </a:avLst>
          </a:prstGeom>
          <a:solidFill>
            <a:schemeClr val="bg2"/>
          </a:solidFill>
          <a:ln/>
        </p:spPr>
      </p:sp>
      <p:sp>
        <p:nvSpPr>
          <p:cNvPr id="15" name="Challenge 2 circle"/>
          <p:cNvSpPr/>
          <p:nvPr/>
        </p:nvSpPr>
        <p:spPr>
          <a:xfrm>
            <a:off x="731520" y="3017520"/>
            <a:ext cx="548640" cy="548640"/>
          </a:xfrm>
          <a:prstGeom prst="ellipse">
            <a:avLst/>
          </a:prstGeom>
          <a:solidFill>
            <a:schemeClr val="accent4"/>
          </a:solidFill>
          <a:ln/>
        </p:spPr>
      </p:sp>
      <p:pic>
        <p:nvPicPr>
          <p:cNvPr id="16" name="Image 2" descr="Challenge 2 icon">    </p:cNvPr>
          <p:cNvPicPr>
            <a:picLocks noChangeAspect="1"/>
          </p:cNvPicPr>
          <p:nvPr/>
        </p:nvPicPr>
        <p:blipFill>
          <a:blip r:embed="rId3"/>
          <a:stretch>
            <a:fillRect/>
          </a:stretch>
        </p:blipFill>
        <p:spPr>
          <a:xfrm>
            <a:off x="863194" y="3149194"/>
            <a:ext cx="285293" cy="285293"/>
          </a:xfrm>
          <a:prstGeom prst="rect">
            <a:avLst/>
          </a:prstGeom>
        </p:spPr>
      </p:pic>
      <p:sp>
        <p:nvSpPr>
          <p:cNvPr id="17" name="Challenge text 2"/>
          <p:cNvSpPr txBox="1"/>
          <p:nvPr/>
        </p:nvSpPr>
        <p:spPr>
          <a:xfrm>
            <a:off x="1463040" y="2880360"/>
            <a:ext cx="3886200" cy="822960"/>
          </a:xfrm>
          <a:prstGeom prst="rect">
            <a:avLst/>
          </a:prstGeom>
          <a:noFill/>
          <a:ln/>
        </p:spPr>
        <p:txBody>
          <a:bodyPr wrap="square" lIns="0" tIns="0" rIns="0" bIns="0" rtlCol="0" anchor="ctr"/>
          <a:lstStyle/>
          <a:p>
            <a:pPr indent="0" marL="0">
              <a:buNone/>
            </a:pPr>
            <a:r>
              <a:rPr lang="en-US" sz="1500" b="1" dirty="0">
                <a:solidFill>
                  <a:schemeClr val="tx2"/>
                </a:solidFill>
              </a:rPr>
              <a:t>Wrong input could crash the program</a:t>
            </a:r>
            <a:endParaRPr lang="en-US" sz="1500" dirty="0"/>
          </a:p>
        </p:txBody>
      </p:sp>
      <p:sp>
        <p:nvSpPr>
          <p:cNvPr id="18" name="Challenge arrow 2"/>
          <p:cNvSpPr/>
          <p:nvPr/>
        </p:nvSpPr>
        <p:spPr>
          <a:xfrm>
            <a:off x="5596128" y="3081528"/>
            <a:ext cx="502920" cy="420624"/>
          </a:xfrm>
          <a:prstGeom prst="rightArrow">
            <a:avLst/>
          </a:prstGeom>
          <a:solidFill>
            <a:schemeClr val="accent6"/>
          </a:solidFill>
          <a:ln/>
        </p:spPr>
      </p:sp>
      <p:sp>
        <p:nvSpPr>
          <p:cNvPr id="19" name="Solution card 2"/>
          <p:cNvSpPr/>
          <p:nvPr/>
        </p:nvSpPr>
        <p:spPr>
          <a:xfrm>
            <a:off x="6217920" y="2834640"/>
            <a:ext cx="5394960" cy="914400"/>
          </a:xfrm>
          <a:prstGeom prst="roundRect">
            <a:avLst>
              <a:gd name="adj" fmla="val 12000"/>
            </a:avLst>
          </a:prstGeom>
          <a:solidFill>
            <a:schemeClr val="bg2"/>
          </a:solidFill>
          <a:ln/>
        </p:spPr>
      </p:sp>
      <p:sp>
        <p:nvSpPr>
          <p:cNvPr id="20" name="Solution 2 circle"/>
          <p:cNvSpPr/>
          <p:nvPr/>
        </p:nvSpPr>
        <p:spPr>
          <a:xfrm>
            <a:off x="6400800" y="3017520"/>
            <a:ext cx="548640" cy="548640"/>
          </a:xfrm>
          <a:prstGeom prst="ellipse">
            <a:avLst/>
          </a:prstGeom>
          <a:solidFill>
            <a:schemeClr val="accent3"/>
          </a:solidFill>
          <a:ln/>
        </p:spPr>
      </p:sp>
      <p:pic>
        <p:nvPicPr>
          <p:cNvPr id="21" name="Image 3" descr="Solution 2 icon">    </p:cNvPr>
          <p:cNvPicPr>
            <a:picLocks noChangeAspect="1"/>
          </p:cNvPicPr>
          <p:nvPr/>
        </p:nvPicPr>
        <p:blipFill>
          <a:blip r:embed="rId4"/>
          <a:stretch>
            <a:fillRect/>
          </a:stretch>
        </p:blipFill>
        <p:spPr>
          <a:xfrm>
            <a:off x="6532474" y="3149194"/>
            <a:ext cx="285293" cy="285293"/>
          </a:xfrm>
          <a:prstGeom prst="rect">
            <a:avLst/>
          </a:prstGeom>
        </p:spPr>
      </p:pic>
      <p:sp>
        <p:nvSpPr>
          <p:cNvPr id="22" name="Solution text 2"/>
          <p:cNvSpPr txBox="1"/>
          <p:nvPr/>
        </p:nvSpPr>
        <p:spPr>
          <a:xfrm>
            <a:off x="7132320" y="2880360"/>
            <a:ext cx="4343400" cy="822960"/>
          </a:xfrm>
          <a:prstGeom prst="rect">
            <a:avLst/>
          </a:prstGeom>
          <a:noFill/>
          <a:ln/>
        </p:spPr>
        <p:txBody>
          <a:bodyPr wrap="square" lIns="0" tIns="0" rIns="0" bIns="0" rtlCol="0" anchor="ctr"/>
          <a:lstStyle/>
          <a:p>
            <a:pPr indent="0" marL="0">
              <a:buNone/>
            </a:pPr>
            <a:r>
              <a:rPr lang="en-US" sz="1500" dirty="0">
                <a:solidFill>
                  <a:schemeClr val="tx1"/>
                </a:solidFill>
              </a:rPr>
              <a:t>Added validation and try / except blocks</a:t>
            </a:r>
            <a:endParaRPr lang="en-US" sz="1500" dirty="0"/>
          </a:p>
        </p:txBody>
      </p:sp>
      <p:sp>
        <p:nvSpPr>
          <p:cNvPr id="23" name="Challenge card 3"/>
          <p:cNvSpPr/>
          <p:nvPr/>
        </p:nvSpPr>
        <p:spPr>
          <a:xfrm>
            <a:off x="548640" y="3886200"/>
            <a:ext cx="4937760" cy="914400"/>
          </a:xfrm>
          <a:prstGeom prst="roundRect">
            <a:avLst>
              <a:gd name="adj" fmla="val 12000"/>
            </a:avLst>
          </a:prstGeom>
          <a:solidFill>
            <a:schemeClr val="bg2"/>
          </a:solidFill>
          <a:ln/>
        </p:spPr>
      </p:sp>
      <p:sp>
        <p:nvSpPr>
          <p:cNvPr id="24" name="Challenge 3 circle"/>
          <p:cNvSpPr/>
          <p:nvPr/>
        </p:nvSpPr>
        <p:spPr>
          <a:xfrm>
            <a:off x="731520" y="4069080"/>
            <a:ext cx="548640" cy="548640"/>
          </a:xfrm>
          <a:prstGeom prst="ellipse">
            <a:avLst/>
          </a:prstGeom>
          <a:solidFill>
            <a:schemeClr val="accent4"/>
          </a:solidFill>
          <a:ln/>
        </p:spPr>
      </p:sp>
      <p:pic>
        <p:nvPicPr>
          <p:cNvPr id="25" name="Image 4" descr="Challenge 3 icon">    </p:cNvPr>
          <p:cNvPicPr>
            <a:picLocks noChangeAspect="1"/>
          </p:cNvPicPr>
          <p:nvPr/>
        </p:nvPicPr>
        <p:blipFill>
          <a:blip r:embed="rId5"/>
          <a:stretch>
            <a:fillRect/>
          </a:stretch>
        </p:blipFill>
        <p:spPr>
          <a:xfrm>
            <a:off x="863194" y="4200754"/>
            <a:ext cx="285293" cy="285293"/>
          </a:xfrm>
          <a:prstGeom prst="rect">
            <a:avLst/>
          </a:prstGeom>
        </p:spPr>
      </p:pic>
      <p:sp>
        <p:nvSpPr>
          <p:cNvPr id="26" name="Challenge text 3"/>
          <p:cNvSpPr txBox="1"/>
          <p:nvPr/>
        </p:nvSpPr>
        <p:spPr>
          <a:xfrm>
            <a:off x="1463040" y="3931920"/>
            <a:ext cx="3886200" cy="822960"/>
          </a:xfrm>
          <a:prstGeom prst="rect">
            <a:avLst/>
          </a:prstGeom>
          <a:noFill/>
          <a:ln/>
        </p:spPr>
        <p:txBody>
          <a:bodyPr wrap="square" lIns="0" tIns="0" rIns="0" bIns="0" rtlCol="0" anchor="ctr"/>
          <a:lstStyle/>
          <a:p>
            <a:pPr indent="0" marL="0">
              <a:buNone/>
            </a:pPr>
            <a:r>
              <a:rPr lang="en-US" sz="1500" b="1" dirty="0">
                <a:solidFill>
                  <a:schemeClr val="tx2"/>
                </a:solidFill>
              </a:rPr>
              <a:t>Code became hard to manage as features grew</a:t>
            </a:r>
            <a:endParaRPr lang="en-US" sz="1500" dirty="0"/>
          </a:p>
        </p:txBody>
      </p:sp>
      <p:sp>
        <p:nvSpPr>
          <p:cNvPr id="27" name="Challenge arrow 3"/>
          <p:cNvSpPr/>
          <p:nvPr/>
        </p:nvSpPr>
        <p:spPr>
          <a:xfrm>
            <a:off x="5596128" y="4133088"/>
            <a:ext cx="502920" cy="420624"/>
          </a:xfrm>
          <a:prstGeom prst="rightArrow">
            <a:avLst/>
          </a:prstGeom>
          <a:solidFill>
            <a:schemeClr val="accent6"/>
          </a:solidFill>
          <a:ln/>
        </p:spPr>
      </p:sp>
      <p:sp>
        <p:nvSpPr>
          <p:cNvPr id="28" name="Solution card 3"/>
          <p:cNvSpPr/>
          <p:nvPr/>
        </p:nvSpPr>
        <p:spPr>
          <a:xfrm>
            <a:off x="6217920" y="3886200"/>
            <a:ext cx="5394960" cy="914400"/>
          </a:xfrm>
          <a:prstGeom prst="roundRect">
            <a:avLst>
              <a:gd name="adj" fmla="val 12000"/>
            </a:avLst>
          </a:prstGeom>
          <a:solidFill>
            <a:schemeClr val="bg2"/>
          </a:solidFill>
          <a:ln/>
        </p:spPr>
      </p:sp>
      <p:sp>
        <p:nvSpPr>
          <p:cNvPr id="29" name="Solution 3 circle"/>
          <p:cNvSpPr/>
          <p:nvPr/>
        </p:nvSpPr>
        <p:spPr>
          <a:xfrm>
            <a:off x="6400800" y="4069080"/>
            <a:ext cx="548640" cy="548640"/>
          </a:xfrm>
          <a:prstGeom prst="ellipse">
            <a:avLst/>
          </a:prstGeom>
          <a:solidFill>
            <a:schemeClr val="accent3"/>
          </a:solidFill>
          <a:ln/>
        </p:spPr>
      </p:sp>
      <p:pic>
        <p:nvPicPr>
          <p:cNvPr id="30" name="Image 5" descr="Solution 3 icon">    </p:cNvPr>
          <p:cNvPicPr>
            <a:picLocks noChangeAspect="1"/>
          </p:cNvPicPr>
          <p:nvPr/>
        </p:nvPicPr>
        <p:blipFill>
          <a:blip r:embed="rId6"/>
          <a:stretch>
            <a:fillRect/>
          </a:stretch>
        </p:blipFill>
        <p:spPr>
          <a:xfrm>
            <a:off x="6532474" y="4200754"/>
            <a:ext cx="285293" cy="285293"/>
          </a:xfrm>
          <a:prstGeom prst="rect">
            <a:avLst/>
          </a:prstGeom>
        </p:spPr>
      </p:pic>
      <p:sp>
        <p:nvSpPr>
          <p:cNvPr id="31" name="Solution text 3"/>
          <p:cNvSpPr txBox="1"/>
          <p:nvPr/>
        </p:nvSpPr>
        <p:spPr>
          <a:xfrm>
            <a:off x="7132320" y="3931920"/>
            <a:ext cx="4343400" cy="822960"/>
          </a:xfrm>
          <a:prstGeom prst="rect">
            <a:avLst/>
          </a:prstGeom>
          <a:noFill/>
          <a:ln/>
        </p:spPr>
        <p:txBody>
          <a:bodyPr wrap="square" lIns="0" tIns="0" rIns="0" bIns="0" rtlCol="0" anchor="ctr"/>
          <a:lstStyle/>
          <a:p>
            <a:pPr indent="0" marL="0">
              <a:buNone/>
            </a:pPr>
            <a:r>
              <a:rPr lang="en-US" sz="1500" dirty="0">
                <a:solidFill>
                  <a:schemeClr val="tx1"/>
                </a:solidFill>
              </a:rPr>
              <a:t>Used classes and a separate method for each operation</a:t>
            </a:r>
            <a:endParaRPr lang="en-US" sz="1500" dirty="0"/>
          </a:p>
        </p:txBody>
      </p:sp>
      <p:sp>
        <p:nvSpPr>
          <p:cNvPr id="32" name="Challenge card 4"/>
          <p:cNvSpPr/>
          <p:nvPr/>
        </p:nvSpPr>
        <p:spPr>
          <a:xfrm>
            <a:off x="548640" y="4937760"/>
            <a:ext cx="4937760" cy="914400"/>
          </a:xfrm>
          <a:prstGeom prst="roundRect">
            <a:avLst>
              <a:gd name="adj" fmla="val 12000"/>
            </a:avLst>
          </a:prstGeom>
          <a:solidFill>
            <a:schemeClr val="bg2"/>
          </a:solidFill>
          <a:ln/>
        </p:spPr>
      </p:sp>
      <p:sp>
        <p:nvSpPr>
          <p:cNvPr id="33" name="Challenge 4 circle"/>
          <p:cNvSpPr/>
          <p:nvPr/>
        </p:nvSpPr>
        <p:spPr>
          <a:xfrm>
            <a:off x="731520" y="5120640"/>
            <a:ext cx="548640" cy="548640"/>
          </a:xfrm>
          <a:prstGeom prst="ellipse">
            <a:avLst/>
          </a:prstGeom>
          <a:solidFill>
            <a:schemeClr val="accent4"/>
          </a:solidFill>
          <a:ln/>
        </p:spPr>
      </p:sp>
      <p:pic>
        <p:nvPicPr>
          <p:cNvPr id="34" name="Image 6" descr="Challenge 4 icon">    </p:cNvPr>
          <p:cNvPicPr>
            <a:picLocks noChangeAspect="1"/>
          </p:cNvPicPr>
          <p:nvPr/>
        </p:nvPicPr>
        <p:blipFill>
          <a:blip r:embed="rId7"/>
          <a:stretch>
            <a:fillRect/>
          </a:stretch>
        </p:blipFill>
        <p:spPr>
          <a:xfrm>
            <a:off x="863194" y="5252314"/>
            <a:ext cx="285293" cy="285293"/>
          </a:xfrm>
          <a:prstGeom prst="rect">
            <a:avLst/>
          </a:prstGeom>
        </p:spPr>
      </p:pic>
      <p:sp>
        <p:nvSpPr>
          <p:cNvPr id="35" name="Challenge text 4"/>
          <p:cNvSpPr txBox="1"/>
          <p:nvPr/>
        </p:nvSpPr>
        <p:spPr>
          <a:xfrm>
            <a:off x="1463040" y="4983480"/>
            <a:ext cx="3886200" cy="822960"/>
          </a:xfrm>
          <a:prstGeom prst="rect">
            <a:avLst/>
          </a:prstGeom>
          <a:noFill/>
          <a:ln/>
        </p:spPr>
        <p:txBody>
          <a:bodyPr wrap="square" lIns="0" tIns="0" rIns="0" bIns="0" rtlCol="0" anchor="ctr"/>
          <a:lstStyle/>
          <a:p>
            <a:pPr indent="0" marL="0">
              <a:buNone/>
            </a:pPr>
            <a:r>
              <a:rPr lang="en-US" sz="1500" b="1" dirty="0">
                <a:solidFill>
                  <a:schemeClr val="tx2"/>
                </a:solidFill>
              </a:rPr>
              <a:t>Marks could be changed by accident</a:t>
            </a:r>
            <a:endParaRPr lang="en-US" sz="1500" dirty="0"/>
          </a:p>
        </p:txBody>
      </p:sp>
      <p:sp>
        <p:nvSpPr>
          <p:cNvPr id="36" name="Challenge arrow 4"/>
          <p:cNvSpPr/>
          <p:nvPr/>
        </p:nvSpPr>
        <p:spPr>
          <a:xfrm>
            <a:off x="5596128" y="5184648"/>
            <a:ext cx="502920" cy="420624"/>
          </a:xfrm>
          <a:prstGeom prst="rightArrow">
            <a:avLst/>
          </a:prstGeom>
          <a:solidFill>
            <a:schemeClr val="accent6"/>
          </a:solidFill>
          <a:ln/>
        </p:spPr>
      </p:sp>
      <p:sp>
        <p:nvSpPr>
          <p:cNvPr id="37" name="Solution card 4"/>
          <p:cNvSpPr/>
          <p:nvPr/>
        </p:nvSpPr>
        <p:spPr>
          <a:xfrm>
            <a:off x="6217920" y="4937760"/>
            <a:ext cx="5394960" cy="914400"/>
          </a:xfrm>
          <a:prstGeom prst="roundRect">
            <a:avLst>
              <a:gd name="adj" fmla="val 12000"/>
            </a:avLst>
          </a:prstGeom>
          <a:solidFill>
            <a:schemeClr val="bg2"/>
          </a:solidFill>
          <a:ln/>
        </p:spPr>
      </p:sp>
      <p:sp>
        <p:nvSpPr>
          <p:cNvPr id="38" name="Solution 4 circle"/>
          <p:cNvSpPr/>
          <p:nvPr/>
        </p:nvSpPr>
        <p:spPr>
          <a:xfrm>
            <a:off x="6400800" y="5120640"/>
            <a:ext cx="548640" cy="548640"/>
          </a:xfrm>
          <a:prstGeom prst="ellipse">
            <a:avLst/>
          </a:prstGeom>
          <a:solidFill>
            <a:schemeClr val="accent3"/>
          </a:solidFill>
          <a:ln/>
        </p:spPr>
      </p:sp>
      <p:pic>
        <p:nvPicPr>
          <p:cNvPr id="39" name="Image 7" descr="Solution 4 icon">    </p:cNvPr>
          <p:cNvPicPr>
            <a:picLocks noChangeAspect="1"/>
          </p:cNvPicPr>
          <p:nvPr/>
        </p:nvPicPr>
        <p:blipFill>
          <a:blip r:embed="rId8"/>
          <a:stretch>
            <a:fillRect/>
          </a:stretch>
        </p:blipFill>
        <p:spPr>
          <a:xfrm>
            <a:off x="6532474" y="5252314"/>
            <a:ext cx="285293" cy="285293"/>
          </a:xfrm>
          <a:prstGeom prst="rect">
            <a:avLst/>
          </a:prstGeom>
        </p:spPr>
      </p:pic>
      <p:sp>
        <p:nvSpPr>
          <p:cNvPr id="40" name="Solution text 4"/>
          <p:cNvSpPr txBox="1"/>
          <p:nvPr/>
        </p:nvSpPr>
        <p:spPr>
          <a:xfrm>
            <a:off x="7132320" y="4983480"/>
            <a:ext cx="4343400" cy="822960"/>
          </a:xfrm>
          <a:prstGeom prst="rect">
            <a:avLst/>
          </a:prstGeom>
          <a:noFill/>
          <a:ln/>
        </p:spPr>
        <p:txBody>
          <a:bodyPr wrap="square" lIns="0" tIns="0" rIns="0" bIns="0" rtlCol="0" anchor="ctr"/>
          <a:lstStyle/>
          <a:p>
            <a:pPr indent="0" marL="0">
              <a:buNone/>
            </a:pPr>
            <a:r>
              <a:rPr lang="en-US" sz="1500" dirty="0">
                <a:solidFill>
                  <a:schemeClr val="tx1"/>
                </a:solidFill>
              </a:rPr>
              <a:t>Kept marks in a private attribute (encapsulation)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Future Improvements</a:t>
            </a:r>
            <a:endParaRPr lang="en-US" sz="3400" dirty="0"/>
          </a:p>
        </p:txBody>
      </p:sp>
      <p:sp>
        <p:nvSpPr>
          <p:cNvPr id="3" name="Future card 1"/>
          <p:cNvSpPr/>
          <p:nvPr/>
        </p:nvSpPr>
        <p:spPr>
          <a:xfrm>
            <a:off x="548640" y="1463040"/>
            <a:ext cx="5394960" cy="1371600"/>
          </a:xfrm>
          <a:prstGeom prst="roundRect">
            <a:avLst>
              <a:gd name="adj" fmla="val 8000"/>
            </a:avLst>
          </a:prstGeom>
          <a:solidFill>
            <a:schemeClr val="bg2"/>
          </a:solidFill>
          <a:ln/>
        </p:spPr>
      </p:sp>
      <p:sp>
        <p:nvSpPr>
          <p:cNvPr id="4" name="Future 1 circle"/>
          <p:cNvSpPr/>
          <p:nvPr/>
        </p:nvSpPr>
        <p:spPr>
          <a:xfrm>
            <a:off x="822960" y="1783080"/>
            <a:ext cx="731520" cy="731520"/>
          </a:xfrm>
          <a:prstGeom prst="ellipse">
            <a:avLst/>
          </a:prstGeom>
          <a:solidFill>
            <a:schemeClr val="accent1"/>
          </a:solidFill>
          <a:ln/>
        </p:spPr>
      </p:sp>
      <p:pic>
        <p:nvPicPr>
          <p:cNvPr id="5" name="Image 0" descr="Future 1 icon">    </p:cNvPr>
          <p:cNvPicPr>
            <a:picLocks noChangeAspect="1"/>
          </p:cNvPicPr>
          <p:nvPr/>
        </p:nvPicPr>
        <p:blipFill>
          <a:blip r:embed="rId1"/>
          <a:stretch>
            <a:fillRect/>
          </a:stretch>
        </p:blipFill>
        <p:spPr>
          <a:xfrm>
            <a:off x="998525" y="1958645"/>
            <a:ext cx="380390" cy="380390"/>
          </a:xfrm>
          <a:prstGeom prst="rect">
            <a:avLst/>
          </a:prstGeom>
        </p:spPr>
      </p:pic>
      <p:sp>
        <p:nvSpPr>
          <p:cNvPr id="6" name="Future name 1"/>
          <p:cNvSpPr txBox="1"/>
          <p:nvPr/>
        </p:nvSpPr>
        <p:spPr>
          <a:xfrm>
            <a:off x="1828800" y="1737360"/>
            <a:ext cx="3840480" cy="365760"/>
          </a:xfrm>
          <a:prstGeom prst="rect">
            <a:avLst/>
          </a:prstGeom>
          <a:noFill/>
          <a:ln/>
        </p:spPr>
        <p:txBody>
          <a:bodyPr wrap="square" lIns="0" tIns="0" rIns="0" bIns="0" rtlCol="0" anchor="t"/>
          <a:lstStyle/>
          <a:p>
            <a:pPr indent="0" marL="0">
              <a:buNone/>
            </a:pPr>
            <a:r>
              <a:rPr lang="en-US" sz="1800" b="1" dirty="0">
                <a:solidFill>
                  <a:schemeClr val="tx2"/>
                </a:solidFill>
              </a:rPr>
              <a:t>Graphical interface</a:t>
            </a:r>
            <a:endParaRPr lang="en-US" sz="1800" dirty="0"/>
          </a:p>
        </p:txBody>
      </p:sp>
      <p:sp>
        <p:nvSpPr>
          <p:cNvPr id="7" name="Future desc 1"/>
          <p:cNvSpPr txBox="1"/>
          <p:nvPr/>
        </p:nvSpPr>
        <p:spPr>
          <a:xfrm>
            <a:off x="1828800" y="2176272"/>
            <a:ext cx="3840480" cy="502920"/>
          </a:xfrm>
          <a:prstGeom prst="rect">
            <a:avLst/>
          </a:prstGeom>
          <a:noFill/>
          <a:ln/>
        </p:spPr>
        <p:txBody>
          <a:bodyPr wrap="square" lIns="0" tIns="0" rIns="0" bIns="0" rtlCol="0" anchor="t"/>
          <a:lstStyle/>
          <a:p>
            <a:pPr indent="0" marL="0">
              <a:buNone/>
            </a:pPr>
            <a:r>
              <a:rPr lang="en-US" sz="1500" dirty="0">
                <a:solidFill>
                  <a:schemeClr val="tx1"/>
                </a:solidFill>
              </a:rPr>
              <a:t>Replace the console with a Tkinter GUI</a:t>
            </a:r>
            <a:endParaRPr lang="en-US" sz="1500" dirty="0"/>
          </a:p>
        </p:txBody>
      </p:sp>
      <p:sp>
        <p:nvSpPr>
          <p:cNvPr id="8" name="Future card 2"/>
          <p:cNvSpPr/>
          <p:nvPr/>
        </p:nvSpPr>
        <p:spPr>
          <a:xfrm>
            <a:off x="6217920" y="1463040"/>
            <a:ext cx="5394960" cy="1371600"/>
          </a:xfrm>
          <a:prstGeom prst="roundRect">
            <a:avLst>
              <a:gd name="adj" fmla="val 8000"/>
            </a:avLst>
          </a:prstGeom>
          <a:solidFill>
            <a:schemeClr val="bg2"/>
          </a:solidFill>
          <a:ln/>
        </p:spPr>
      </p:sp>
      <p:sp>
        <p:nvSpPr>
          <p:cNvPr id="9" name="Future 2 circle"/>
          <p:cNvSpPr/>
          <p:nvPr/>
        </p:nvSpPr>
        <p:spPr>
          <a:xfrm>
            <a:off x="6492240" y="1783080"/>
            <a:ext cx="731520" cy="731520"/>
          </a:xfrm>
          <a:prstGeom prst="ellipse">
            <a:avLst/>
          </a:prstGeom>
          <a:solidFill>
            <a:schemeClr val="accent3"/>
          </a:solidFill>
          <a:ln/>
        </p:spPr>
      </p:sp>
      <p:pic>
        <p:nvPicPr>
          <p:cNvPr id="10" name="Image 1" descr="Future 2 icon">    </p:cNvPr>
          <p:cNvPicPr>
            <a:picLocks noChangeAspect="1"/>
          </p:cNvPicPr>
          <p:nvPr/>
        </p:nvPicPr>
        <p:blipFill>
          <a:blip r:embed="rId2"/>
          <a:stretch>
            <a:fillRect/>
          </a:stretch>
        </p:blipFill>
        <p:spPr>
          <a:xfrm>
            <a:off x="6667805" y="1958645"/>
            <a:ext cx="380390" cy="380390"/>
          </a:xfrm>
          <a:prstGeom prst="rect">
            <a:avLst/>
          </a:prstGeom>
        </p:spPr>
      </p:pic>
      <p:sp>
        <p:nvSpPr>
          <p:cNvPr id="11" name="Future name 2"/>
          <p:cNvSpPr txBox="1"/>
          <p:nvPr/>
        </p:nvSpPr>
        <p:spPr>
          <a:xfrm>
            <a:off x="7498080" y="1737360"/>
            <a:ext cx="3840480" cy="365760"/>
          </a:xfrm>
          <a:prstGeom prst="rect">
            <a:avLst/>
          </a:prstGeom>
          <a:noFill/>
          <a:ln/>
        </p:spPr>
        <p:txBody>
          <a:bodyPr wrap="square" lIns="0" tIns="0" rIns="0" bIns="0" rtlCol="0" anchor="t"/>
          <a:lstStyle/>
          <a:p>
            <a:pPr indent="0" marL="0">
              <a:buNone/>
            </a:pPr>
            <a:r>
              <a:rPr lang="en-US" sz="1800" b="1" dirty="0">
                <a:solidFill>
                  <a:schemeClr val="tx2"/>
                </a:solidFill>
              </a:rPr>
              <a:t>Database storage</a:t>
            </a:r>
            <a:endParaRPr lang="en-US" sz="1800" dirty="0"/>
          </a:p>
        </p:txBody>
      </p:sp>
      <p:sp>
        <p:nvSpPr>
          <p:cNvPr id="12" name="Future desc 2"/>
          <p:cNvSpPr txBox="1"/>
          <p:nvPr/>
        </p:nvSpPr>
        <p:spPr>
          <a:xfrm>
            <a:off x="7498080" y="2176272"/>
            <a:ext cx="3840480" cy="502920"/>
          </a:xfrm>
          <a:prstGeom prst="rect">
            <a:avLst/>
          </a:prstGeom>
          <a:noFill/>
          <a:ln/>
        </p:spPr>
        <p:txBody>
          <a:bodyPr wrap="square" lIns="0" tIns="0" rIns="0" bIns="0" rtlCol="0" anchor="t"/>
          <a:lstStyle/>
          <a:p>
            <a:pPr indent="0" marL="0">
              <a:buNone/>
            </a:pPr>
            <a:r>
              <a:rPr lang="en-US" sz="1500" dirty="0">
                <a:solidFill>
                  <a:schemeClr val="tx1"/>
                </a:solidFill>
              </a:rPr>
              <a:t>Move from JSON to SQLite or MySQL</a:t>
            </a:r>
            <a:endParaRPr lang="en-US" sz="1500" dirty="0"/>
          </a:p>
        </p:txBody>
      </p:sp>
      <p:sp>
        <p:nvSpPr>
          <p:cNvPr id="13" name="Future card 3"/>
          <p:cNvSpPr/>
          <p:nvPr/>
        </p:nvSpPr>
        <p:spPr>
          <a:xfrm>
            <a:off x="548640" y="3017520"/>
            <a:ext cx="5394960" cy="1371600"/>
          </a:xfrm>
          <a:prstGeom prst="roundRect">
            <a:avLst>
              <a:gd name="adj" fmla="val 8000"/>
            </a:avLst>
          </a:prstGeom>
          <a:solidFill>
            <a:schemeClr val="bg2"/>
          </a:solidFill>
          <a:ln/>
        </p:spPr>
      </p:sp>
      <p:sp>
        <p:nvSpPr>
          <p:cNvPr id="14" name="Future 3 circle"/>
          <p:cNvSpPr/>
          <p:nvPr/>
        </p:nvSpPr>
        <p:spPr>
          <a:xfrm>
            <a:off x="822960" y="3337560"/>
            <a:ext cx="731520" cy="731520"/>
          </a:xfrm>
          <a:prstGeom prst="ellipse">
            <a:avLst/>
          </a:prstGeom>
          <a:solidFill>
            <a:schemeClr val="accent4"/>
          </a:solidFill>
          <a:ln/>
        </p:spPr>
      </p:sp>
      <p:pic>
        <p:nvPicPr>
          <p:cNvPr id="15" name="Image 2" descr="Future 3 icon">    </p:cNvPr>
          <p:cNvPicPr>
            <a:picLocks noChangeAspect="1"/>
          </p:cNvPicPr>
          <p:nvPr/>
        </p:nvPicPr>
        <p:blipFill>
          <a:blip r:embed="rId3"/>
          <a:stretch>
            <a:fillRect/>
          </a:stretch>
        </p:blipFill>
        <p:spPr>
          <a:xfrm>
            <a:off x="998525" y="3513125"/>
            <a:ext cx="380390" cy="380390"/>
          </a:xfrm>
          <a:prstGeom prst="rect">
            <a:avLst/>
          </a:prstGeom>
        </p:spPr>
      </p:pic>
      <p:sp>
        <p:nvSpPr>
          <p:cNvPr id="16" name="Future name 3"/>
          <p:cNvSpPr txBox="1"/>
          <p:nvPr/>
        </p:nvSpPr>
        <p:spPr>
          <a:xfrm>
            <a:off x="1828800" y="3291840"/>
            <a:ext cx="3840480" cy="365760"/>
          </a:xfrm>
          <a:prstGeom prst="rect">
            <a:avLst/>
          </a:prstGeom>
          <a:noFill/>
          <a:ln/>
        </p:spPr>
        <p:txBody>
          <a:bodyPr wrap="square" lIns="0" tIns="0" rIns="0" bIns="0" rtlCol="0" anchor="t"/>
          <a:lstStyle/>
          <a:p>
            <a:pPr indent="0" marL="0">
              <a:buNone/>
            </a:pPr>
            <a:r>
              <a:rPr lang="en-US" sz="1800" b="1" dirty="0">
                <a:solidFill>
                  <a:schemeClr val="tx2"/>
                </a:solidFill>
              </a:rPr>
              <a:t>Unique student ID</a:t>
            </a:r>
            <a:endParaRPr lang="en-US" sz="1800" dirty="0"/>
          </a:p>
        </p:txBody>
      </p:sp>
      <p:sp>
        <p:nvSpPr>
          <p:cNvPr id="17" name="Future desc 3"/>
          <p:cNvSpPr txBox="1"/>
          <p:nvPr/>
        </p:nvSpPr>
        <p:spPr>
          <a:xfrm>
            <a:off x="1828800" y="3730752"/>
            <a:ext cx="3840480" cy="502920"/>
          </a:xfrm>
          <a:prstGeom prst="rect">
            <a:avLst/>
          </a:prstGeom>
          <a:noFill/>
          <a:ln/>
        </p:spPr>
        <p:txBody>
          <a:bodyPr wrap="square" lIns="0" tIns="0" rIns="0" bIns="0" rtlCol="0" anchor="t"/>
          <a:lstStyle/>
          <a:p>
            <a:pPr indent="0" marL="0">
              <a:buNone/>
            </a:pPr>
            <a:r>
              <a:rPr lang="en-US" sz="1500" dirty="0">
                <a:solidFill>
                  <a:schemeClr val="tx1"/>
                </a:solidFill>
              </a:rPr>
              <a:t>Identify students by roll number, not just name</a:t>
            </a:r>
            <a:endParaRPr lang="en-US" sz="1500" dirty="0"/>
          </a:p>
        </p:txBody>
      </p:sp>
      <p:sp>
        <p:nvSpPr>
          <p:cNvPr id="18" name="Future card 4"/>
          <p:cNvSpPr/>
          <p:nvPr/>
        </p:nvSpPr>
        <p:spPr>
          <a:xfrm>
            <a:off x="6217920" y="3017520"/>
            <a:ext cx="5394960" cy="1371600"/>
          </a:xfrm>
          <a:prstGeom prst="roundRect">
            <a:avLst>
              <a:gd name="adj" fmla="val 8000"/>
            </a:avLst>
          </a:prstGeom>
          <a:solidFill>
            <a:schemeClr val="bg2"/>
          </a:solidFill>
          <a:ln/>
        </p:spPr>
      </p:sp>
      <p:sp>
        <p:nvSpPr>
          <p:cNvPr id="19" name="Future 4 circle"/>
          <p:cNvSpPr/>
          <p:nvPr/>
        </p:nvSpPr>
        <p:spPr>
          <a:xfrm>
            <a:off x="6492240" y="3337560"/>
            <a:ext cx="731520" cy="731520"/>
          </a:xfrm>
          <a:prstGeom prst="ellipse">
            <a:avLst/>
          </a:prstGeom>
          <a:solidFill>
            <a:schemeClr val="accent5"/>
          </a:solidFill>
          <a:ln/>
        </p:spPr>
      </p:sp>
      <p:pic>
        <p:nvPicPr>
          <p:cNvPr id="20" name="Image 3" descr="Future 4 icon">    </p:cNvPr>
          <p:cNvPicPr>
            <a:picLocks noChangeAspect="1"/>
          </p:cNvPicPr>
          <p:nvPr/>
        </p:nvPicPr>
        <p:blipFill>
          <a:blip r:embed="rId4"/>
          <a:stretch>
            <a:fillRect/>
          </a:stretch>
        </p:blipFill>
        <p:spPr>
          <a:xfrm>
            <a:off x="6667805" y="3513125"/>
            <a:ext cx="380390" cy="380390"/>
          </a:xfrm>
          <a:prstGeom prst="rect">
            <a:avLst/>
          </a:prstGeom>
        </p:spPr>
      </p:pic>
      <p:sp>
        <p:nvSpPr>
          <p:cNvPr id="21" name="Future name 4"/>
          <p:cNvSpPr txBox="1"/>
          <p:nvPr/>
        </p:nvSpPr>
        <p:spPr>
          <a:xfrm>
            <a:off x="7498080" y="3291840"/>
            <a:ext cx="3840480" cy="365760"/>
          </a:xfrm>
          <a:prstGeom prst="rect">
            <a:avLst/>
          </a:prstGeom>
          <a:noFill/>
          <a:ln/>
        </p:spPr>
        <p:txBody>
          <a:bodyPr wrap="square" lIns="0" tIns="0" rIns="0" bIns="0" rtlCol="0" anchor="t"/>
          <a:lstStyle/>
          <a:p>
            <a:pPr indent="0" marL="0">
              <a:buNone/>
            </a:pPr>
            <a:r>
              <a:rPr lang="en-US" sz="1800" b="1" dirty="0">
                <a:solidFill>
                  <a:schemeClr val="tx2"/>
                </a:solidFill>
              </a:rPr>
              <a:t>Grades and ranking</a:t>
            </a:r>
            <a:endParaRPr lang="en-US" sz="1800" dirty="0"/>
          </a:p>
        </p:txBody>
      </p:sp>
      <p:sp>
        <p:nvSpPr>
          <p:cNvPr id="22" name="Future desc 4"/>
          <p:cNvSpPr txBox="1"/>
          <p:nvPr/>
        </p:nvSpPr>
        <p:spPr>
          <a:xfrm>
            <a:off x="7498080" y="3730752"/>
            <a:ext cx="3840480" cy="502920"/>
          </a:xfrm>
          <a:prstGeom prst="rect">
            <a:avLst/>
          </a:prstGeom>
          <a:noFill/>
          <a:ln/>
        </p:spPr>
        <p:txBody>
          <a:bodyPr wrap="square" lIns="0" tIns="0" rIns="0" bIns="0" rtlCol="0" anchor="t"/>
          <a:lstStyle/>
          <a:p>
            <a:pPr indent="0" marL="0">
              <a:buNone/>
            </a:pPr>
            <a:r>
              <a:rPr lang="en-US" sz="1500" dirty="0">
                <a:solidFill>
                  <a:schemeClr val="tx1"/>
                </a:solidFill>
              </a:rPr>
              <a:t>Calculate grades, sort and rank by marks</a:t>
            </a:r>
            <a:endParaRPr lang="en-US" sz="1500" dirty="0"/>
          </a:p>
        </p:txBody>
      </p:sp>
      <p:sp>
        <p:nvSpPr>
          <p:cNvPr id="23" name="Future card 5"/>
          <p:cNvSpPr/>
          <p:nvPr/>
        </p:nvSpPr>
        <p:spPr>
          <a:xfrm>
            <a:off x="548640" y="4572000"/>
            <a:ext cx="5394960" cy="1371600"/>
          </a:xfrm>
          <a:prstGeom prst="roundRect">
            <a:avLst>
              <a:gd name="adj" fmla="val 8000"/>
            </a:avLst>
          </a:prstGeom>
          <a:solidFill>
            <a:schemeClr val="bg2"/>
          </a:solidFill>
          <a:ln/>
        </p:spPr>
      </p:sp>
      <p:sp>
        <p:nvSpPr>
          <p:cNvPr id="24" name="Future 5 circle"/>
          <p:cNvSpPr/>
          <p:nvPr/>
        </p:nvSpPr>
        <p:spPr>
          <a:xfrm>
            <a:off x="822960" y="4892040"/>
            <a:ext cx="731520" cy="731520"/>
          </a:xfrm>
          <a:prstGeom prst="ellipse">
            <a:avLst/>
          </a:prstGeom>
          <a:solidFill>
            <a:schemeClr val="tx2"/>
          </a:solidFill>
          <a:ln/>
        </p:spPr>
      </p:sp>
      <p:pic>
        <p:nvPicPr>
          <p:cNvPr id="25" name="Image 4" descr="Future 5 icon">    </p:cNvPr>
          <p:cNvPicPr>
            <a:picLocks noChangeAspect="1"/>
          </p:cNvPicPr>
          <p:nvPr/>
        </p:nvPicPr>
        <p:blipFill>
          <a:blip r:embed="rId5"/>
          <a:stretch>
            <a:fillRect/>
          </a:stretch>
        </p:blipFill>
        <p:spPr>
          <a:xfrm>
            <a:off x="998525" y="5067605"/>
            <a:ext cx="380390" cy="380390"/>
          </a:xfrm>
          <a:prstGeom prst="rect">
            <a:avLst/>
          </a:prstGeom>
        </p:spPr>
      </p:pic>
      <p:sp>
        <p:nvSpPr>
          <p:cNvPr id="26" name="Future name 5"/>
          <p:cNvSpPr txBox="1"/>
          <p:nvPr/>
        </p:nvSpPr>
        <p:spPr>
          <a:xfrm>
            <a:off x="1828800" y="4846320"/>
            <a:ext cx="3840480" cy="365760"/>
          </a:xfrm>
          <a:prstGeom prst="rect">
            <a:avLst/>
          </a:prstGeom>
          <a:noFill/>
          <a:ln/>
        </p:spPr>
        <p:txBody>
          <a:bodyPr wrap="square" lIns="0" tIns="0" rIns="0" bIns="0" rtlCol="0" anchor="t"/>
          <a:lstStyle/>
          <a:p>
            <a:pPr indent="0" marL="0">
              <a:buNone/>
            </a:pPr>
            <a:r>
              <a:rPr lang="en-US" sz="1800" b="1" dirty="0">
                <a:solidFill>
                  <a:schemeClr val="tx2"/>
                </a:solidFill>
              </a:rPr>
              <a:t>Export reports</a:t>
            </a:r>
            <a:endParaRPr lang="en-US" sz="1800" dirty="0"/>
          </a:p>
        </p:txBody>
      </p:sp>
      <p:sp>
        <p:nvSpPr>
          <p:cNvPr id="27" name="Future desc 5"/>
          <p:cNvSpPr txBox="1"/>
          <p:nvPr/>
        </p:nvSpPr>
        <p:spPr>
          <a:xfrm>
            <a:off x="1828800" y="5285232"/>
            <a:ext cx="3840480" cy="502920"/>
          </a:xfrm>
          <a:prstGeom prst="rect">
            <a:avLst/>
          </a:prstGeom>
          <a:noFill/>
          <a:ln/>
        </p:spPr>
        <p:txBody>
          <a:bodyPr wrap="square" lIns="0" tIns="0" rIns="0" bIns="0" rtlCol="0" anchor="t"/>
          <a:lstStyle/>
          <a:p>
            <a:pPr indent="0" marL="0">
              <a:buNone/>
            </a:pPr>
            <a:r>
              <a:rPr lang="en-US" sz="1500" dirty="0">
                <a:solidFill>
                  <a:schemeClr val="tx1"/>
                </a:solidFill>
              </a:rPr>
              <a:t>Save records as CSV or PDF files</a:t>
            </a:r>
            <a:endParaRPr lang="en-US" sz="1500" dirty="0"/>
          </a:p>
        </p:txBody>
      </p:sp>
      <p:sp>
        <p:nvSpPr>
          <p:cNvPr id="28" name="Future card 6"/>
          <p:cNvSpPr/>
          <p:nvPr/>
        </p:nvSpPr>
        <p:spPr>
          <a:xfrm>
            <a:off x="6217920" y="4572000"/>
            <a:ext cx="5394960" cy="1371600"/>
          </a:xfrm>
          <a:prstGeom prst="roundRect">
            <a:avLst>
              <a:gd name="adj" fmla="val 8000"/>
            </a:avLst>
          </a:prstGeom>
          <a:solidFill>
            <a:schemeClr val="bg2"/>
          </a:solidFill>
          <a:ln/>
        </p:spPr>
      </p:sp>
      <p:sp>
        <p:nvSpPr>
          <p:cNvPr id="29" name="Future 6 circle"/>
          <p:cNvSpPr/>
          <p:nvPr/>
        </p:nvSpPr>
        <p:spPr>
          <a:xfrm>
            <a:off x="6492240" y="4892040"/>
            <a:ext cx="731520" cy="731520"/>
          </a:xfrm>
          <a:prstGeom prst="ellipse">
            <a:avLst/>
          </a:prstGeom>
          <a:solidFill>
            <a:schemeClr val="accent1"/>
          </a:solidFill>
          <a:ln/>
        </p:spPr>
      </p:sp>
      <p:pic>
        <p:nvPicPr>
          <p:cNvPr id="30" name="Image 5" descr="Future 6 icon">    </p:cNvPr>
          <p:cNvPicPr>
            <a:picLocks noChangeAspect="1"/>
          </p:cNvPicPr>
          <p:nvPr/>
        </p:nvPicPr>
        <p:blipFill>
          <a:blip r:embed="rId6"/>
          <a:stretch>
            <a:fillRect/>
          </a:stretch>
        </p:blipFill>
        <p:spPr>
          <a:xfrm>
            <a:off x="6667805" y="5067605"/>
            <a:ext cx="380390" cy="380390"/>
          </a:xfrm>
          <a:prstGeom prst="rect">
            <a:avLst/>
          </a:prstGeom>
        </p:spPr>
      </p:pic>
      <p:sp>
        <p:nvSpPr>
          <p:cNvPr id="31" name="Future name 6"/>
          <p:cNvSpPr txBox="1"/>
          <p:nvPr/>
        </p:nvSpPr>
        <p:spPr>
          <a:xfrm>
            <a:off x="7498080" y="4846320"/>
            <a:ext cx="3840480" cy="365760"/>
          </a:xfrm>
          <a:prstGeom prst="rect">
            <a:avLst/>
          </a:prstGeom>
          <a:noFill/>
          <a:ln/>
        </p:spPr>
        <p:txBody>
          <a:bodyPr wrap="square" lIns="0" tIns="0" rIns="0" bIns="0" rtlCol="0" anchor="t"/>
          <a:lstStyle/>
          <a:p>
            <a:pPr indent="0" marL="0">
              <a:buNone/>
            </a:pPr>
            <a:r>
              <a:rPr lang="en-US" sz="1800" b="1" dirty="0">
                <a:solidFill>
                  <a:schemeClr val="tx2"/>
                </a:solidFill>
              </a:rPr>
              <a:t>Login system</a:t>
            </a:r>
            <a:endParaRPr lang="en-US" sz="1800" dirty="0"/>
          </a:p>
        </p:txBody>
      </p:sp>
      <p:sp>
        <p:nvSpPr>
          <p:cNvPr id="32" name="Future desc 6"/>
          <p:cNvSpPr txBox="1"/>
          <p:nvPr/>
        </p:nvSpPr>
        <p:spPr>
          <a:xfrm>
            <a:off x="7498080" y="5285232"/>
            <a:ext cx="3840480" cy="502920"/>
          </a:xfrm>
          <a:prstGeom prst="rect">
            <a:avLst/>
          </a:prstGeom>
          <a:noFill/>
          <a:ln/>
        </p:spPr>
        <p:txBody>
          <a:bodyPr wrap="square" lIns="0" tIns="0" rIns="0" bIns="0" rtlCol="0" anchor="t"/>
          <a:lstStyle/>
          <a:p>
            <a:pPr indent="0" marL="0">
              <a:buNone/>
            </a:pPr>
            <a:r>
              <a:rPr lang="en-US" sz="1500" dirty="0">
                <a:solidFill>
                  <a:schemeClr val="tx1"/>
                </a:solidFill>
              </a:rPr>
              <a:t>Restrict access to authorised users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Conclusion and Learning Outcomes</a:t>
            </a:r>
            <a:endParaRPr lang="en-US" sz="3400" dirty="0"/>
          </a:p>
        </p:txBody>
      </p:sp>
      <p:sp>
        <p:nvSpPr>
          <p:cNvPr id="3" name="Conclusion card"/>
          <p:cNvSpPr/>
          <p:nvPr/>
        </p:nvSpPr>
        <p:spPr>
          <a:xfrm>
            <a:off x="548640" y="1463040"/>
            <a:ext cx="4754880" cy="4572000"/>
          </a:xfrm>
          <a:prstGeom prst="roundRect">
            <a:avLst>
              <a:gd name="adj" fmla="val 3600"/>
            </a:avLst>
          </a:prstGeom>
          <a:solidFill>
            <a:schemeClr val="tx2"/>
          </a:solidFill>
          <a:ln/>
        </p:spPr>
      </p:sp>
      <p:sp>
        <p:nvSpPr>
          <p:cNvPr id="4" name="Conclusion heading"/>
          <p:cNvSpPr txBox="1"/>
          <p:nvPr/>
        </p:nvSpPr>
        <p:spPr>
          <a:xfrm>
            <a:off x="914400" y="1783080"/>
            <a:ext cx="402336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Conclusion</a:t>
            </a:r>
            <a:endParaRPr lang="en-US" sz="2400" dirty="0"/>
          </a:p>
        </p:txBody>
      </p:sp>
      <p:sp>
        <p:nvSpPr>
          <p:cNvPr id="5" name="Conclusion text"/>
          <p:cNvSpPr txBox="1"/>
          <p:nvPr/>
        </p:nvSpPr>
        <p:spPr>
          <a:xfrm>
            <a:off x="914400" y="2423160"/>
            <a:ext cx="4023360" cy="3291840"/>
          </a:xfrm>
          <a:prstGeom prst="rect">
            <a:avLst/>
          </a:prstGeom>
          <a:noFill/>
          <a:ln/>
        </p:spPr>
        <p:txBody>
          <a:bodyPr wrap="square" lIns="0" tIns="0" rIns="0" bIns="0" rtlCol="0" anchor="t"/>
          <a:lstStyle/>
          <a:p>
            <a:pPr indent="0" marL="0">
              <a:buNone/>
            </a:pPr>
            <a:r>
              <a:rPr lang="en-US" sz="1800" dirty="0">
                <a:solidFill>
                  <a:schemeClr val="bg1"/>
                </a:solidFill>
              </a:rPr>
              <a:t>The Student Management System brings core Python concepts together in one practical application: organised with OOP, saved with JSON, and made reliable with validation and exception handling.</a:t>
            </a:r>
            <a:endParaRPr lang="en-US" sz="1800" dirty="0"/>
          </a:p>
        </p:txBody>
      </p:sp>
      <p:sp>
        <p:nvSpPr>
          <p:cNvPr id="6" name="Learning heading"/>
          <p:cNvSpPr txBox="1"/>
          <p:nvPr/>
        </p:nvSpPr>
        <p:spPr>
          <a:xfrm>
            <a:off x="5669280" y="1463040"/>
            <a:ext cx="548640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What I learned</a:t>
            </a:r>
            <a:endParaRPr lang="en-US" sz="2000" dirty="0"/>
          </a:p>
        </p:txBody>
      </p:sp>
      <p:sp>
        <p:nvSpPr>
          <p:cNvPr id="7" name="Learning 1 circle"/>
          <p:cNvSpPr/>
          <p:nvPr/>
        </p:nvSpPr>
        <p:spPr>
          <a:xfrm>
            <a:off x="5669280" y="2084832"/>
            <a:ext cx="457200" cy="457200"/>
          </a:xfrm>
          <a:prstGeom prst="ellipse">
            <a:avLst/>
          </a:prstGeom>
          <a:solidFill>
            <a:schemeClr val="accent3"/>
          </a:solidFill>
          <a:ln/>
        </p:spPr>
      </p:sp>
      <p:pic>
        <p:nvPicPr>
          <p:cNvPr id="8" name="Image 0" descr="Learning 1 icon">    </p:cNvPr>
          <p:cNvPicPr>
            <a:picLocks noChangeAspect="1"/>
          </p:cNvPicPr>
          <p:nvPr/>
        </p:nvPicPr>
        <p:blipFill>
          <a:blip r:embed="rId1"/>
          <a:stretch>
            <a:fillRect/>
          </a:stretch>
        </p:blipFill>
        <p:spPr>
          <a:xfrm>
            <a:off x="5779008" y="2194560"/>
            <a:ext cx="237744" cy="237744"/>
          </a:xfrm>
          <a:prstGeom prst="rect">
            <a:avLst/>
          </a:prstGeom>
        </p:spPr>
      </p:pic>
      <p:sp>
        <p:nvSpPr>
          <p:cNvPr id="9" name="Learning text 1"/>
          <p:cNvSpPr txBox="1"/>
          <p:nvPr/>
        </p:nvSpPr>
        <p:spPr>
          <a:xfrm>
            <a:off x="6355080" y="2011680"/>
            <a:ext cx="5257800" cy="640080"/>
          </a:xfrm>
          <a:prstGeom prst="rect">
            <a:avLst/>
          </a:prstGeom>
          <a:noFill/>
          <a:ln/>
        </p:spPr>
        <p:txBody>
          <a:bodyPr wrap="square" lIns="0" tIns="0" rIns="0" bIns="0" rtlCol="0" anchor="ctr"/>
          <a:lstStyle/>
          <a:p>
            <a:pPr indent="0" marL="0">
              <a:buNone/>
            </a:pPr>
            <a:r>
              <a:rPr lang="en-US" sz="1600" dirty="0">
                <a:solidFill>
                  <a:schemeClr val="tx1"/>
                </a:solidFill>
              </a:rPr>
              <a:t>Python fundamentals: variables, loops, functions, lists and dictionaries</a:t>
            </a:r>
            <a:endParaRPr lang="en-US" sz="1600" dirty="0"/>
          </a:p>
        </p:txBody>
      </p:sp>
      <p:sp>
        <p:nvSpPr>
          <p:cNvPr id="10" name="Learning 2 circle"/>
          <p:cNvSpPr/>
          <p:nvPr/>
        </p:nvSpPr>
        <p:spPr>
          <a:xfrm>
            <a:off x="5669280" y="2907792"/>
            <a:ext cx="457200" cy="457200"/>
          </a:xfrm>
          <a:prstGeom prst="ellipse">
            <a:avLst/>
          </a:prstGeom>
          <a:solidFill>
            <a:schemeClr val="accent3"/>
          </a:solidFill>
          <a:ln/>
        </p:spPr>
      </p:sp>
      <p:pic>
        <p:nvPicPr>
          <p:cNvPr id="11" name="Image 1" descr="Learning 2 icon">    </p:cNvPr>
          <p:cNvPicPr>
            <a:picLocks noChangeAspect="1"/>
          </p:cNvPicPr>
          <p:nvPr/>
        </p:nvPicPr>
        <p:blipFill>
          <a:blip r:embed="rId2"/>
          <a:stretch>
            <a:fillRect/>
          </a:stretch>
        </p:blipFill>
        <p:spPr>
          <a:xfrm>
            <a:off x="5779008" y="3017520"/>
            <a:ext cx="237744" cy="237744"/>
          </a:xfrm>
          <a:prstGeom prst="rect">
            <a:avLst/>
          </a:prstGeom>
        </p:spPr>
      </p:pic>
      <p:sp>
        <p:nvSpPr>
          <p:cNvPr id="12" name="Learning text 2"/>
          <p:cNvSpPr txBox="1"/>
          <p:nvPr/>
        </p:nvSpPr>
        <p:spPr>
          <a:xfrm>
            <a:off x="6355080" y="2834640"/>
            <a:ext cx="5257800" cy="640080"/>
          </a:xfrm>
          <a:prstGeom prst="rect">
            <a:avLst/>
          </a:prstGeom>
          <a:noFill/>
          <a:ln/>
        </p:spPr>
        <p:txBody>
          <a:bodyPr wrap="square" lIns="0" tIns="0" rIns="0" bIns="0" rtlCol="0" anchor="ctr"/>
          <a:lstStyle/>
          <a:p>
            <a:pPr indent="0" marL="0">
              <a:buNone/>
            </a:pPr>
            <a:r>
              <a:rPr lang="en-US" sz="1600" dirty="0">
                <a:solidFill>
                  <a:schemeClr val="tx1"/>
                </a:solidFill>
              </a:rPr>
              <a:t>Object-Oriented Programming: classes, inheritance, encapsulation, abstraction</a:t>
            </a:r>
            <a:endParaRPr lang="en-US" sz="1600" dirty="0"/>
          </a:p>
        </p:txBody>
      </p:sp>
      <p:sp>
        <p:nvSpPr>
          <p:cNvPr id="13" name="Learning 3 circle"/>
          <p:cNvSpPr/>
          <p:nvPr/>
        </p:nvSpPr>
        <p:spPr>
          <a:xfrm>
            <a:off x="5669280" y="3730752"/>
            <a:ext cx="457200" cy="457200"/>
          </a:xfrm>
          <a:prstGeom prst="ellipse">
            <a:avLst/>
          </a:prstGeom>
          <a:solidFill>
            <a:schemeClr val="accent3"/>
          </a:solidFill>
          <a:ln/>
        </p:spPr>
      </p:sp>
      <p:pic>
        <p:nvPicPr>
          <p:cNvPr id="14" name="Image 2" descr="Learning 3 icon">    </p:cNvPr>
          <p:cNvPicPr>
            <a:picLocks noChangeAspect="1"/>
          </p:cNvPicPr>
          <p:nvPr/>
        </p:nvPicPr>
        <p:blipFill>
          <a:blip r:embed="rId3"/>
          <a:stretch>
            <a:fillRect/>
          </a:stretch>
        </p:blipFill>
        <p:spPr>
          <a:xfrm>
            <a:off x="5779008" y="3840480"/>
            <a:ext cx="237744" cy="237744"/>
          </a:xfrm>
          <a:prstGeom prst="rect">
            <a:avLst/>
          </a:prstGeom>
        </p:spPr>
      </p:pic>
      <p:sp>
        <p:nvSpPr>
          <p:cNvPr id="15" name="Learning text 3"/>
          <p:cNvSpPr txBox="1"/>
          <p:nvPr/>
        </p:nvSpPr>
        <p:spPr>
          <a:xfrm>
            <a:off x="6355080" y="3657600"/>
            <a:ext cx="5257800" cy="640080"/>
          </a:xfrm>
          <a:prstGeom prst="rect">
            <a:avLst/>
          </a:prstGeom>
          <a:noFill/>
          <a:ln/>
        </p:spPr>
        <p:txBody>
          <a:bodyPr wrap="square" lIns="0" tIns="0" rIns="0" bIns="0" rtlCol="0" anchor="ctr"/>
          <a:lstStyle/>
          <a:p>
            <a:pPr indent="0" marL="0">
              <a:buNone/>
            </a:pPr>
            <a:r>
              <a:rPr lang="en-US" sz="1600" dirty="0">
                <a:solidFill>
                  <a:schemeClr val="tx1"/>
                </a:solidFill>
              </a:rPr>
              <a:t>File handling and JSON serialization</a:t>
            </a:r>
            <a:endParaRPr lang="en-US" sz="1600" dirty="0"/>
          </a:p>
        </p:txBody>
      </p:sp>
      <p:sp>
        <p:nvSpPr>
          <p:cNvPr id="16" name="Learning 4 circle"/>
          <p:cNvSpPr/>
          <p:nvPr/>
        </p:nvSpPr>
        <p:spPr>
          <a:xfrm>
            <a:off x="5669280" y="4553712"/>
            <a:ext cx="457200" cy="457200"/>
          </a:xfrm>
          <a:prstGeom prst="ellipse">
            <a:avLst/>
          </a:prstGeom>
          <a:solidFill>
            <a:schemeClr val="accent3"/>
          </a:solidFill>
          <a:ln/>
        </p:spPr>
      </p:sp>
      <p:pic>
        <p:nvPicPr>
          <p:cNvPr id="17" name="Image 3" descr="Learning 4 icon">    </p:cNvPr>
          <p:cNvPicPr>
            <a:picLocks noChangeAspect="1"/>
          </p:cNvPicPr>
          <p:nvPr/>
        </p:nvPicPr>
        <p:blipFill>
          <a:blip r:embed="rId4"/>
          <a:stretch>
            <a:fillRect/>
          </a:stretch>
        </p:blipFill>
        <p:spPr>
          <a:xfrm>
            <a:off x="5779008" y="4663440"/>
            <a:ext cx="237744" cy="237744"/>
          </a:xfrm>
          <a:prstGeom prst="rect">
            <a:avLst/>
          </a:prstGeom>
        </p:spPr>
      </p:pic>
      <p:sp>
        <p:nvSpPr>
          <p:cNvPr id="18" name="Learning text 4"/>
          <p:cNvSpPr txBox="1"/>
          <p:nvPr/>
        </p:nvSpPr>
        <p:spPr>
          <a:xfrm>
            <a:off x="6355080" y="4480560"/>
            <a:ext cx="5257800" cy="640080"/>
          </a:xfrm>
          <a:prstGeom prst="rect">
            <a:avLst/>
          </a:prstGeom>
          <a:noFill/>
          <a:ln/>
        </p:spPr>
        <p:txBody>
          <a:bodyPr wrap="square" lIns="0" tIns="0" rIns="0" bIns="0" rtlCol="0" anchor="ctr"/>
          <a:lstStyle/>
          <a:p>
            <a:pPr indent="0" marL="0">
              <a:buNone/>
            </a:pPr>
            <a:r>
              <a:rPr lang="en-US" sz="1600" dirty="0">
                <a:solidFill>
                  <a:schemeClr val="tx1"/>
                </a:solidFill>
              </a:rPr>
              <a:t>Input validation and exception handling</a:t>
            </a:r>
            <a:endParaRPr lang="en-US" sz="1600" dirty="0"/>
          </a:p>
        </p:txBody>
      </p:sp>
      <p:sp>
        <p:nvSpPr>
          <p:cNvPr id="19" name="Learning 5 circle"/>
          <p:cNvSpPr/>
          <p:nvPr/>
        </p:nvSpPr>
        <p:spPr>
          <a:xfrm>
            <a:off x="5669280" y="5376672"/>
            <a:ext cx="457200" cy="457200"/>
          </a:xfrm>
          <a:prstGeom prst="ellipse">
            <a:avLst/>
          </a:prstGeom>
          <a:solidFill>
            <a:schemeClr val="accent3"/>
          </a:solidFill>
          <a:ln/>
        </p:spPr>
      </p:sp>
      <p:pic>
        <p:nvPicPr>
          <p:cNvPr id="20" name="Image 4" descr="Learning 5 icon">    </p:cNvPr>
          <p:cNvPicPr>
            <a:picLocks noChangeAspect="1"/>
          </p:cNvPicPr>
          <p:nvPr/>
        </p:nvPicPr>
        <p:blipFill>
          <a:blip r:embed="rId5"/>
          <a:stretch>
            <a:fillRect/>
          </a:stretch>
        </p:blipFill>
        <p:spPr>
          <a:xfrm>
            <a:off x="5779008" y="5486400"/>
            <a:ext cx="237744" cy="237744"/>
          </a:xfrm>
          <a:prstGeom prst="rect">
            <a:avLst/>
          </a:prstGeom>
        </p:spPr>
      </p:pic>
      <p:sp>
        <p:nvSpPr>
          <p:cNvPr id="21" name="Learning text 5"/>
          <p:cNvSpPr txBox="1"/>
          <p:nvPr/>
        </p:nvSpPr>
        <p:spPr>
          <a:xfrm>
            <a:off x="6355080" y="5303520"/>
            <a:ext cx="5257800" cy="640080"/>
          </a:xfrm>
          <a:prstGeom prst="rect">
            <a:avLst/>
          </a:prstGeom>
          <a:noFill/>
          <a:ln/>
        </p:spPr>
        <p:txBody>
          <a:bodyPr wrap="square" lIns="0" tIns="0" rIns="0" bIns="0" rtlCol="0" anchor="ctr"/>
          <a:lstStyle/>
          <a:p>
            <a:pPr indent="0" marL="0">
              <a:buNone/>
            </a:pPr>
            <a:r>
              <a:rPr lang="en-US" sz="1600" dirty="0">
                <a:solidFill>
                  <a:schemeClr val="tx1"/>
                </a:solidFill>
              </a:rPr>
              <a:t>Version control with Git and GitHub</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ython circle"/>
          <p:cNvSpPr/>
          <p:nvPr/>
        </p:nvSpPr>
        <p:spPr>
          <a:xfrm>
            <a:off x="731520" y="2011680"/>
            <a:ext cx="822960" cy="822960"/>
          </a:xfrm>
          <a:prstGeom prst="ellipse">
            <a:avLst/>
          </a:prstGeom>
          <a:solidFill>
            <a:schemeClr val="accent2"/>
          </a:solidFill>
          <a:ln/>
        </p:spPr>
      </p:sp>
      <p:pic>
        <p:nvPicPr>
          <p:cNvPr id="3" name="Image 0" descr="Python icon">    </p:cNvPr>
          <p:cNvPicPr>
            <a:picLocks noChangeAspect="1"/>
          </p:cNvPicPr>
          <p:nvPr/>
        </p:nvPicPr>
        <p:blipFill>
          <a:blip r:embed="rId1"/>
          <a:stretch>
            <a:fillRect/>
          </a:stretch>
        </p:blipFill>
        <p:spPr>
          <a:xfrm>
            <a:off x="929030" y="2209190"/>
            <a:ext cx="427939" cy="427939"/>
          </a:xfrm>
          <a:prstGeom prst="rect">
            <a:avLst/>
          </a:prstGeom>
        </p:spPr>
      </p:pic>
      <p:sp>
        <p:nvSpPr>
          <p:cNvPr id="4" name="Text 1"/>
          <p:cNvSpPr/>
          <p:nvPr>
            <p:ph idx="101" type="title" hasCustomPrompt="1"/>
          </p:nvPr>
        </p:nvSpPr>
        <p:spPr>
          <a:xfrm>
            <a:off x="731520" y="3017520"/>
            <a:ext cx="7315200" cy="1097280"/>
          </a:xfrm>
          <a:prstGeom prst="rect">
            <a:avLst/>
          </a:prstGeom>
          <a:noFill/>
          <a:ln/>
        </p:spPr>
        <p:txBody>
          <a:bodyPr wrap="square" lIns="0" tIns="0" rIns="0" bIns="0" rtlCol="0" anchor="t"/>
          <a:lstStyle/>
          <a:p>
            <a:pPr algn="l" indent="0" marL="0">
              <a:buNone/>
            </a:pPr>
            <a:r>
              <a:rPr lang="en-US" sz="5400" b="1" dirty="0">
                <a:solidFill>
                  <a:schemeClr val="bg1"/>
                </a:solidFill>
              </a:rPr>
              <a:t>Thank You</a:t>
            </a:r>
            <a:endParaRPr lang="en-US" sz="5400" dirty="0"/>
          </a:p>
        </p:txBody>
      </p:sp>
    </p:spTree>
  </p:cSld>
  <p:clrMapOvr>
    <a:masterClrMapping/>
  </p:clrMapOvr>
</p:sld>
</file>

<file path=ppt/theme/theme1.xml><?xml version="1.0" encoding="utf-8"?>
<a:theme xmlns:a="http://schemas.openxmlformats.org/drawingml/2006/main" name="Python Academic">
  <a:themeElements>
    <a:clrScheme name="Python Academic">
      <a:dk1>
        <a:srgbClr val="1F2937"/>
      </a:dk1>
      <a:lt1>
        <a:srgbClr val="FFFFFF"/>
      </a:lt1>
      <a:dk2>
        <a:srgbClr val="14213D"/>
      </a:dk2>
      <a:lt2>
        <a:srgbClr val="EEF3F9"/>
      </a:lt2>
      <a:accent1>
        <a:srgbClr val="306998"/>
      </a:accent1>
      <a:accent2>
        <a:srgbClr val="FFD43B"/>
      </a:accent2>
      <a:accent3>
        <a:srgbClr val="2A9D8F"/>
      </a:accent3>
      <a:accent4>
        <a:srgbClr val="E76F51"/>
      </a:accent4>
      <a:accent5>
        <a:srgbClr val="6C8EBF"/>
      </a:accent5>
      <a:accent6>
        <a:srgbClr val="6B7280"/>
      </a:accent6>
      <a:hlink>
        <a:srgbClr val="306998"/>
      </a:hlink>
      <a:folHlink>
        <a:srgbClr val="6B7280"/>
      </a:folHlink>
    </a:clrScheme>
    <a:fontScheme name="Python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Management System Using Python</dc:title>
  <dc:subject>Python Internship - Week 6, Task 4</dc:subject>
  <dc:creator>PptxGenJS</dc:creator>
  <cp:lastModifiedBy>PptxGenJS</cp:lastModifiedBy>
  <cp:revision>1</cp:revision>
  <dcterms:created xsi:type="dcterms:W3CDTF">2026-10-24T21:21:27Z</dcterms:created>
  <dcterms:modified xsi:type="dcterms:W3CDTF">2026-10-24T21:21:27Z</dcterms:modified>
</cp:coreProperties>
</file>